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7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8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9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10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11.xml" ContentType="application/vnd.openxmlformats-officedocument.theme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12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57483774" r:id="rId1"/>
    <p:sldMasterId id="2157483780" r:id="rId2"/>
    <p:sldMasterId id="2157483792" r:id="rId3"/>
    <p:sldMasterId id="2157483798" r:id="rId4"/>
    <p:sldMasterId id="2157483810" r:id="rId5"/>
    <p:sldMasterId id="2157483822" r:id="rId6"/>
    <p:sldMasterId id="2157483828" r:id="rId7"/>
    <p:sldMasterId id="2157483841" r:id="rId8"/>
    <p:sldMasterId id="2157483847" r:id="rId9"/>
    <p:sldMasterId id="2157483860" r:id="rId10"/>
    <p:sldMasterId id="2157483865" r:id="rId11"/>
    <p:sldMasterId id="2157483878" r:id="rId12"/>
    <p:sldMasterId id="2157483883" r:id="rId13"/>
  </p:sldMasterIdLst>
  <p:notesMasterIdLst>
    <p:notesMasterId r:id="rId27"/>
  </p:notesMasterIdLst>
  <p:sldIdLst>
    <p:sldId id="256" r:id="rId14"/>
    <p:sldId id="257" r:id="rId15"/>
    <p:sldId id="258" r:id="rId16"/>
    <p:sldId id="261" r:id="rId17"/>
    <p:sldId id="263" r:id="rId18"/>
    <p:sldId id="264" r:id="rId19"/>
    <p:sldId id="265" r:id="rId20"/>
    <p:sldId id="266" r:id="rId21"/>
    <p:sldId id="267" r:id="rId22"/>
    <p:sldId id="271" r:id="rId23"/>
    <p:sldId id="268" r:id="rId24"/>
    <p:sldId id="269" r:id="rId25"/>
    <p:sldId id="27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5" autoAdjust="0"/>
    <p:restoredTop sz="77532" autoAdjust="0"/>
  </p:normalViewPr>
  <p:slideViewPr>
    <p:cSldViewPr snapToGrid="0">
      <p:cViewPr varScale="1">
        <p:scale>
          <a:sx n="66" d="100"/>
          <a:sy n="66" d="100"/>
        </p:scale>
        <p:origin x="597" y="2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8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各位老师好，我是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6476A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超级无敌雷霆暴龙战士组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的</a:t>
            </a:r>
            <a:r>
              <a:rPr lang="zh-CN" altLang="en-US" sz="1200" b="0" dirty="0">
                <a:solidFill>
                  <a:srgbClr val="26476A"/>
                </a:solidFill>
                <a:latin typeface="Noto Sans SC"/>
                <a:ea typeface="Noto Sans SC"/>
                <a:sym typeface="Noto Sans SC"/>
              </a:rPr>
              <a:t>钟翌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。今天汇报的是我的数据分析实训项目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——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音乐专辑数据分析，基于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10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万条音乐专辑数据，分析音乐行业的发行规律和市场趋势。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汇报分七个部分。先说实训成果，再讲项目背景，然后介绍小组成员分工、数据和分析维度。核心部分是分析结果和五张图表，之后分享技术亮点，最后是实训心得。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两周实训分四个阶段。前三天学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Python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基础，做了学生管理系统、计算器。进阶阶段学了装饰器、生成器，做了课程资料整理器。第三阶段是数据分析三件套：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NumPy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、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Pandas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、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Matplotlib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。最后用爬虫技术和前面学的所有内容，完成了这次音乐专辑项目。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数据分析核心库这块，我学了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NumPy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向量化计算、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Pandas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数据处理、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Matplotlib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Seaborn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可视化。通过多个案例练习，掌握了数据清洗、转换、分析和可视化的完整流程。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为什么选音乐数据？音乐行业每年产生大量专辑、销量、评分数据。我想回答几个问题：哪种类型最受欢迎？销量和发行量有什么关系？近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年趋势怎样？专业评分和大众评分标准有何不同？用数据揭示这些规律。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本次项目由三人小组合作完成。我负责数据清洗，刁英东负责任务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1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、任务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和数据处理，李晨负责任务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3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到任务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5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的可视化。我们通过代码整合和联调，共同完成了整个项目。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数据来自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Kaggle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10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万条专辑记录。选了类型、年份、销量、评分等核心字段。设了五个分析维度：各类型数量、各类型销量、近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年趋势、前五类型年份销量、前五类型评分对比。技术用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Python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Pandas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处理数据，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Matplotlib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Seaborn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画图。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这一页是五个分析任务的说明。任务一统计各类型专辑数量，画柱状图。任务二统计各类型销量，也是柱状图。任务三看近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年趋势，用双轴图，柱状图加折线图。任务四筛选销量前五的类型，看它们各年份的变化，画多折线图。任务五对比三种评分体系，用分组柱状图。下一页会展示这五张图。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这一页先说明五个分析任务。任务一是各类型专辑数量统计，任务二是各类型销量统计，任务三是近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年专辑与单曲趋势，任务四是前五类型各年份销量，任务五是前五类型评分对比。每一张图都对应一个具体问题，下一页会展示这五张图表。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这五张图就是前面分析任务的可视化结果。对应五个维度的核心发现，从数量和销量到时间趋势再到评分对比，完整呈现了整个分析过程。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78243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技术上有三个点。第一，向量化计算。用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Pandas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NumPy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内置函数，不用循环，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10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万条数据几秒就处理完。第二，多维度交叉分析。用</a:t>
            </a:r>
            <a:r>
              <a:rPr lang="en-US" altLang="zh-CN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groupby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unstack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，从多个角度挖数据。第三，双轴图。用</a:t>
            </a:r>
            <a:r>
              <a:rPr lang="en-US" altLang="zh-CN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twinx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把专辑数量和单曲数量放在同一张图里，两种指标一起看。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另外，分组柱状图用来对比评分差异。代码上分了五个模块，各自独立，方便改。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Seaborn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简化了画图代码，配色也好看。五个任务，五张图，十万条数据。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总结一下。技术上，掌握了从数据到可视化的完整流程。思维上，学会了用数据回答问题。协作上，三人分工配合，代码整合。不足的地方，可以加更多数据源，或做交互看板。感谢指导老师和助教的帮助。汇报结束，谢谢各位老师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570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2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39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6" name="AutoShape 19">
            <a:extLst>
              <a:ext uri="{FF2B5EF4-FFF2-40B4-BE49-F238E27FC236}">
                <a16:creationId xmlns:a16="http://schemas.microsoft.com/office/drawing/2014/main" id="{00902952-820D-3028-5E3B-6BA7398D1C82}"/>
              </a:ext>
            </a:extLst>
          </p:cNvPr>
          <p:cNvSpPr/>
          <p:nvPr/>
        </p:nvSpPr>
        <p:spPr>
          <a:xfrm>
            <a:off x="5168900" y="3810000"/>
            <a:ext cx="1841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id="7" name="AutoShape 20">
            <a:extLst>
              <a:ext uri="{FF2B5EF4-FFF2-40B4-BE49-F238E27FC236}">
                <a16:creationId xmlns:a16="http://schemas.microsoft.com/office/drawing/2014/main" id="{EAB3F337-91A1-1454-6295-E0EFC812B30E}"/>
              </a:ext>
            </a:extLst>
          </p:cNvPr>
          <p:cNvSpPr/>
          <p:nvPr/>
        </p:nvSpPr>
        <p:spPr>
          <a:xfrm>
            <a:off x="4330700" y="4635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9" name="AutoShape 22">
            <a:extLst>
              <a:ext uri="{FF2B5EF4-FFF2-40B4-BE49-F238E27FC236}">
                <a16:creationId xmlns:a16="http://schemas.microsoft.com/office/drawing/2014/main" id="{87165766-B8A9-85BE-BC61-27AE8BE9000D}"/>
              </a:ext>
            </a:extLst>
          </p:cNvPr>
          <p:cNvSpPr/>
          <p:nvPr/>
        </p:nvSpPr>
        <p:spPr>
          <a:xfrm>
            <a:off x="4330700" y="50800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1" name="AutoShape 24">
            <a:extLst>
              <a:ext uri="{FF2B5EF4-FFF2-40B4-BE49-F238E27FC236}">
                <a16:creationId xmlns:a16="http://schemas.microsoft.com/office/drawing/2014/main" id="{E34DD8FC-1247-63F1-7FF1-941D322F8D15}"/>
              </a:ext>
            </a:extLst>
          </p:cNvPr>
          <p:cNvSpPr/>
          <p:nvPr/>
        </p:nvSpPr>
        <p:spPr>
          <a:xfrm>
            <a:off x="4330700" y="5524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16773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083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 userDrawn="1"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 userDrawn="1"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/>
          <p:cNvSpPr/>
          <p:nvPr userDrawn="1"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 userDrawn="1"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1"/>
          <p:cNvSpPr/>
          <p:nvPr userDrawn="1"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 userDrawn="1"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 userDrawn="1"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 userDrawn="1"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965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 userDrawn="1"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 userDrawn="1"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/>
          <p:cNvSpPr/>
          <p:nvPr userDrawn="1"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 userDrawn="1"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05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 userDrawn="1"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 userDrawn="1"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/>
          <p:cNvSpPr/>
          <p:nvPr userDrawn="1"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 userDrawn="1"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 userDrawn="1"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21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 userDrawn="1"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 userDrawn="1"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/>
          <p:cNvSpPr/>
          <p:nvPr userDrawn="1"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8" name="任意多边形: 形状 7"/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1" name="组合 10"/>
          <p:cNvGrpSpPr/>
          <p:nvPr userDrawn="1"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2" name="任意多边形: 形状 11"/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73008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62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0226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913499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423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17756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90088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069363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256380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314378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849147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6145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9315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9621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158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6" name="AutoShape 19">
            <a:extLst>
              <a:ext uri="{FF2B5EF4-FFF2-40B4-BE49-F238E27FC236}">
                <a16:creationId xmlns:a16="http://schemas.microsoft.com/office/drawing/2014/main" id="{00902952-820D-3028-5E3B-6BA7398D1C82}"/>
              </a:ext>
            </a:extLst>
          </p:cNvPr>
          <p:cNvSpPr/>
          <p:nvPr/>
        </p:nvSpPr>
        <p:spPr>
          <a:xfrm>
            <a:off x="5168900" y="3810000"/>
            <a:ext cx="1841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id="7" name="AutoShape 20">
            <a:extLst>
              <a:ext uri="{FF2B5EF4-FFF2-40B4-BE49-F238E27FC236}">
                <a16:creationId xmlns:a16="http://schemas.microsoft.com/office/drawing/2014/main" id="{EAB3F337-91A1-1454-6295-E0EFC812B30E}"/>
              </a:ext>
            </a:extLst>
          </p:cNvPr>
          <p:cNvSpPr/>
          <p:nvPr/>
        </p:nvSpPr>
        <p:spPr>
          <a:xfrm>
            <a:off x="4330700" y="4635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9" name="AutoShape 22">
            <a:extLst>
              <a:ext uri="{FF2B5EF4-FFF2-40B4-BE49-F238E27FC236}">
                <a16:creationId xmlns:a16="http://schemas.microsoft.com/office/drawing/2014/main" id="{87165766-B8A9-85BE-BC61-27AE8BE9000D}"/>
              </a:ext>
            </a:extLst>
          </p:cNvPr>
          <p:cNvSpPr/>
          <p:nvPr/>
        </p:nvSpPr>
        <p:spPr>
          <a:xfrm>
            <a:off x="4330700" y="50800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1" name="AutoShape 24">
            <a:extLst>
              <a:ext uri="{FF2B5EF4-FFF2-40B4-BE49-F238E27FC236}">
                <a16:creationId xmlns:a16="http://schemas.microsoft.com/office/drawing/2014/main" id="{E34DD8FC-1247-63F1-7FF1-941D322F8D15}"/>
              </a:ext>
            </a:extLst>
          </p:cNvPr>
          <p:cNvSpPr/>
          <p:nvPr/>
        </p:nvSpPr>
        <p:spPr>
          <a:xfrm>
            <a:off x="4330700" y="5524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421385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8534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5994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14050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167207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4797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561588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661249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6970762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045539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985540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71916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1373D56-0DB8-6CB4-8E04-A5A9BF9742C0}"/>
              </a:ext>
            </a:extLst>
          </p:cNvPr>
          <p:cNvSpPr/>
          <p:nvPr/>
        </p:nvSpPr>
        <p:spPr>
          <a:xfrm>
            <a:off x="1705271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8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8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2EBCBDC-81A1-6843-2890-9E5C85206EA8}"/>
              </a:ext>
            </a:extLst>
          </p:cNvPr>
          <p:cNvSpPr/>
          <p:nvPr/>
        </p:nvSpPr>
        <p:spPr>
          <a:xfrm>
            <a:off x="1754671" y="4156969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8" y="125347"/>
                  <a:pt x="489664" y="155707"/>
                </a:cubicBezTo>
                <a:cubicBezTo>
                  <a:pt x="502890" y="187269"/>
                  <a:pt x="509803" y="2206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DA90FDF1-941A-EB7F-9940-700B4CFF5211}"/>
              </a:ext>
            </a:extLst>
          </p:cNvPr>
          <p:cNvSpPr/>
          <p:nvPr/>
        </p:nvSpPr>
        <p:spPr>
          <a:xfrm>
            <a:off x="1775503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4303381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E6FCCA08-EBDA-920F-3B8B-1886B6556D65}"/>
              </a:ext>
            </a:extLst>
          </p:cNvPr>
          <p:cNvSpPr/>
          <p:nvPr/>
        </p:nvSpPr>
        <p:spPr>
          <a:xfrm>
            <a:off x="4431157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6A713E04-BEC7-A3DC-FDED-A400C1A34437}"/>
              </a:ext>
            </a:extLst>
          </p:cNvPr>
          <p:cNvSpPr/>
          <p:nvPr/>
        </p:nvSpPr>
        <p:spPr>
          <a:xfrm>
            <a:off x="4480557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A424E5F-DA4E-C65F-D723-1B79C965BB48}"/>
              </a:ext>
            </a:extLst>
          </p:cNvPr>
          <p:cNvSpPr/>
          <p:nvPr/>
        </p:nvSpPr>
        <p:spPr>
          <a:xfrm>
            <a:off x="4523706" y="4200118"/>
            <a:ext cx="418405" cy="418405"/>
          </a:xfrm>
          <a:custGeom>
            <a:avLst/>
            <a:gdLst>
              <a:gd name="connsiteX0" fmla="*/ 422632 w 422631"/>
              <a:gd name="connsiteY0" fmla="*/ 211316 h 422631"/>
              <a:gd name="connsiteX1" fmla="*/ 211316 w 422631"/>
              <a:gd name="connsiteY1" fmla="*/ 422632 h 422631"/>
              <a:gd name="connsiteX2" fmla="*/ 0 w 422631"/>
              <a:gd name="connsiteY2" fmla="*/ 211316 h 422631"/>
              <a:gd name="connsiteX3" fmla="*/ 211316 w 422631"/>
              <a:gd name="connsiteY3" fmla="*/ 0 h 422631"/>
              <a:gd name="connsiteX4" fmla="*/ 422632 w 422631"/>
              <a:gd name="connsiteY4" fmla="*/ 211316 h 42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31" h="422631">
                <a:moveTo>
                  <a:pt x="422632" y="211316"/>
                </a:moveTo>
                <a:cubicBezTo>
                  <a:pt x="422632" y="328023"/>
                  <a:pt x="328023" y="422632"/>
                  <a:pt x="211316" y="422632"/>
                </a:cubicBezTo>
                <a:cubicBezTo>
                  <a:pt x="94610" y="422632"/>
                  <a:pt x="0" y="328023"/>
                  <a:pt x="0" y="211316"/>
                </a:cubicBezTo>
                <a:cubicBezTo>
                  <a:pt x="0" y="94610"/>
                  <a:pt x="94609" y="0"/>
                  <a:pt x="211316" y="0"/>
                </a:cubicBezTo>
                <a:cubicBezTo>
                  <a:pt x="328022" y="0"/>
                  <a:pt x="422632" y="94609"/>
                  <a:pt x="422632" y="21131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4303380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D8E07ACB-D96A-B1E4-6BF9-DD19E46A0E52}"/>
              </a:ext>
            </a:extLst>
          </p:cNvPr>
          <p:cNvSpPr/>
          <p:nvPr/>
        </p:nvSpPr>
        <p:spPr>
          <a:xfrm>
            <a:off x="7157044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68752FFC-A739-8248-C055-3A9E5C659191}"/>
              </a:ext>
            </a:extLst>
          </p:cNvPr>
          <p:cNvSpPr/>
          <p:nvPr/>
        </p:nvSpPr>
        <p:spPr>
          <a:xfrm>
            <a:off x="7206442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5DF35972-D486-96B1-5988-F75506BD57B0}"/>
              </a:ext>
            </a:extLst>
          </p:cNvPr>
          <p:cNvSpPr/>
          <p:nvPr/>
        </p:nvSpPr>
        <p:spPr>
          <a:xfrm>
            <a:off x="7227274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4315582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15F6710-84EA-DB81-CDD9-A345F018242B}"/>
              </a:ext>
            </a:extLst>
          </p:cNvPr>
          <p:cNvSpPr/>
          <p:nvPr/>
        </p:nvSpPr>
        <p:spPr>
          <a:xfrm>
            <a:off x="9882930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C26A8EC6-6F49-FB46-A7E5-C1739670142C}"/>
              </a:ext>
            </a:extLst>
          </p:cNvPr>
          <p:cNvSpPr/>
          <p:nvPr/>
        </p:nvSpPr>
        <p:spPr>
          <a:xfrm>
            <a:off x="9932329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08D08CC0-3202-6BCA-D09F-4E5EF177D8D7}"/>
              </a:ext>
            </a:extLst>
          </p:cNvPr>
          <p:cNvSpPr/>
          <p:nvPr/>
        </p:nvSpPr>
        <p:spPr>
          <a:xfrm>
            <a:off x="9953160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4318144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8410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6535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4179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902561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55172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414235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892088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2777678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294255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447245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461011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1373D56-0DB8-6CB4-8E04-A5A9BF9742C0}"/>
              </a:ext>
            </a:extLst>
          </p:cNvPr>
          <p:cNvSpPr/>
          <p:nvPr/>
        </p:nvSpPr>
        <p:spPr>
          <a:xfrm>
            <a:off x="1705271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8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8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2EBCBDC-81A1-6843-2890-9E5C85206EA8}"/>
              </a:ext>
            </a:extLst>
          </p:cNvPr>
          <p:cNvSpPr/>
          <p:nvPr/>
        </p:nvSpPr>
        <p:spPr>
          <a:xfrm>
            <a:off x="1754671" y="4156969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8" y="125347"/>
                  <a:pt x="489664" y="155707"/>
                </a:cubicBezTo>
                <a:cubicBezTo>
                  <a:pt x="502890" y="187269"/>
                  <a:pt x="509803" y="2206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DA90FDF1-941A-EB7F-9940-700B4CFF5211}"/>
              </a:ext>
            </a:extLst>
          </p:cNvPr>
          <p:cNvSpPr/>
          <p:nvPr/>
        </p:nvSpPr>
        <p:spPr>
          <a:xfrm>
            <a:off x="1775503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4303381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E6FCCA08-EBDA-920F-3B8B-1886B6556D65}"/>
              </a:ext>
            </a:extLst>
          </p:cNvPr>
          <p:cNvSpPr/>
          <p:nvPr/>
        </p:nvSpPr>
        <p:spPr>
          <a:xfrm>
            <a:off x="4431157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6A713E04-BEC7-A3DC-FDED-A400C1A34437}"/>
              </a:ext>
            </a:extLst>
          </p:cNvPr>
          <p:cNvSpPr/>
          <p:nvPr/>
        </p:nvSpPr>
        <p:spPr>
          <a:xfrm>
            <a:off x="4480557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A424E5F-DA4E-C65F-D723-1B79C965BB48}"/>
              </a:ext>
            </a:extLst>
          </p:cNvPr>
          <p:cNvSpPr/>
          <p:nvPr/>
        </p:nvSpPr>
        <p:spPr>
          <a:xfrm>
            <a:off x="4523706" y="4200118"/>
            <a:ext cx="418405" cy="418405"/>
          </a:xfrm>
          <a:custGeom>
            <a:avLst/>
            <a:gdLst>
              <a:gd name="connsiteX0" fmla="*/ 422632 w 422631"/>
              <a:gd name="connsiteY0" fmla="*/ 211316 h 422631"/>
              <a:gd name="connsiteX1" fmla="*/ 211316 w 422631"/>
              <a:gd name="connsiteY1" fmla="*/ 422632 h 422631"/>
              <a:gd name="connsiteX2" fmla="*/ 0 w 422631"/>
              <a:gd name="connsiteY2" fmla="*/ 211316 h 422631"/>
              <a:gd name="connsiteX3" fmla="*/ 211316 w 422631"/>
              <a:gd name="connsiteY3" fmla="*/ 0 h 422631"/>
              <a:gd name="connsiteX4" fmla="*/ 422632 w 422631"/>
              <a:gd name="connsiteY4" fmla="*/ 211316 h 42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31" h="422631">
                <a:moveTo>
                  <a:pt x="422632" y="211316"/>
                </a:moveTo>
                <a:cubicBezTo>
                  <a:pt x="422632" y="328023"/>
                  <a:pt x="328023" y="422632"/>
                  <a:pt x="211316" y="422632"/>
                </a:cubicBezTo>
                <a:cubicBezTo>
                  <a:pt x="94610" y="422632"/>
                  <a:pt x="0" y="328023"/>
                  <a:pt x="0" y="211316"/>
                </a:cubicBezTo>
                <a:cubicBezTo>
                  <a:pt x="0" y="94610"/>
                  <a:pt x="94609" y="0"/>
                  <a:pt x="211316" y="0"/>
                </a:cubicBezTo>
                <a:cubicBezTo>
                  <a:pt x="328022" y="0"/>
                  <a:pt x="422632" y="94609"/>
                  <a:pt x="422632" y="21131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4303380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D8E07ACB-D96A-B1E4-6BF9-DD19E46A0E52}"/>
              </a:ext>
            </a:extLst>
          </p:cNvPr>
          <p:cNvSpPr/>
          <p:nvPr/>
        </p:nvSpPr>
        <p:spPr>
          <a:xfrm>
            <a:off x="7157044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68752FFC-A739-8248-C055-3A9E5C659191}"/>
              </a:ext>
            </a:extLst>
          </p:cNvPr>
          <p:cNvSpPr/>
          <p:nvPr/>
        </p:nvSpPr>
        <p:spPr>
          <a:xfrm>
            <a:off x="7206442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5DF35972-D486-96B1-5988-F75506BD57B0}"/>
              </a:ext>
            </a:extLst>
          </p:cNvPr>
          <p:cNvSpPr/>
          <p:nvPr/>
        </p:nvSpPr>
        <p:spPr>
          <a:xfrm>
            <a:off x="7227274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4315582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15F6710-84EA-DB81-CDD9-A345F018242B}"/>
              </a:ext>
            </a:extLst>
          </p:cNvPr>
          <p:cNvSpPr/>
          <p:nvPr/>
        </p:nvSpPr>
        <p:spPr>
          <a:xfrm>
            <a:off x="9882930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C26A8EC6-6F49-FB46-A7E5-C1739670142C}"/>
              </a:ext>
            </a:extLst>
          </p:cNvPr>
          <p:cNvSpPr/>
          <p:nvPr/>
        </p:nvSpPr>
        <p:spPr>
          <a:xfrm>
            <a:off x="9932329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08D08CC0-3202-6BCA-D09F-4E5EF177D8D7}"/>
              </a:ext>
            </a:extLst>
          </p:cNvPr>
          <p:cNvSpPr/>
          <p:nvPr/>
        </p:nvSpPr>
        <p:spPr>
          <a:xfrm>
            <a:off x="9953160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4318144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28782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85873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5888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253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6" name="AutoShape 19">
            <a:extLst>
              <a:ext uri="{FF2B5EF4-FFF2-40B4-BE49-F238E27FC236}">
                <a16:creationId xmlns:a16="http://schemas.microsoft.com/office/drawing/2014/main" id="{00902952-820D-3028-5E3B-6BA7398D1C82}"/>
              </a:ext>
            </a:extLst>
          </p:cNvPr>
          <p:cNvSpPr/>
          <p:nvPr/>
        </p:nvSpPr>
        <p:spPr>
          <a:xfrm>
            <a:off x="5168900" y="3810000"/>
            <a:ext cx="1841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id="7" name="AutoShape 20">
            <a:extLst>
              <a:ext uri="{FF2B5EF4-FFF2-40B4-BE49-F238E27FC236}">
                <a16:creationId xmlns:a16="http://schemas.microsoft.com/office/drawing/2014/main" id="{EAB3F337-91A1-1454-6295-E0EFC812B30E}"/>
              </a:ext>
            </a:extLst>
          </p:cNvPr>
          <p:cNvSpPr/>
          <p:nvPr/>
        </p:nvSpPr>
        <p:spPr>
          <a:xfrm>
            <a:off x="4330700" y="4635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9" name="AutoShape 22">
            <a:extLst>
              <a:ext uri="{FF2B5EF4-FFF2-40B4-BE49-F238E27FC236}">
                <a16:creationId xmlns:a16="http://schemas.microsoft.com/office/drawing/2014/main" id="{87165766-B8A9-85BE-BC61-27AE8BE9000D}"/>
              </a:ext>
            </a:extLst>
          </p:cNvPr>
          <p:cNvSpPr/>
          <p:nvPr/>
        </p:nvSpPr>
        <p:spPr>
          <a:xfrm>
            <a:off x="4330700" y="50800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1" name="AutoShape 24">
            <a:extLst>
              <a:ext uri="{FF2B5EF4-FFF2-40B4-BE49-F238E27FC236}">
                <a16:creationId xmlns:a16="http://schemas.microsoft.com/office/drawing/2014/main" id="{E34DD8FC-1247-63F1-7FF1-941D322F8D15}"/>
              </a:ext>
            </a:extLst>
          </p:cNvPr>
          <p:cNvSpPr/>
          <p:nvPr/>
        </p:nvSpPr>
        <p:spPr>
          <a:xfrm>
            <a:off x="4330700" y="5524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9516151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55358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396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2589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5561449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6630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6066343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3063503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7217569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410660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2747031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1930629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1373D56-0DB8-6CB4-8E04-A5A9BF9742C0}"/>
              </a:ext>
            </a:extLst>
          </p:cNvPr>
          <p:cNvSpPr/>
          <p:nvPr/>
        </p:nvSpPr>
        <p:spPr>
          <a:xfrm>
            <a:off x="1705271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8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8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2EBCBDC-81A1-6843-2890-9E5C85206EA8}"/>
              </a:ext>
            </a:extLst>
          </p:cNvPr>
          <p:cNvSpPr/>
          <p:nvPr/>
        </p:nvSpPr>
        <p:spPr>
          <a:xfrm>
            <a:off x="1754671" y="4156969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8" y="125347"/>
                  <a:pt x="489664" y="155707"/>
                </a:cubicBezTo>
                <a:cubicBezTo>
                  <a:pt x="502890" y="187269"/>
                  <a:pt x="509803" y="2206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DA90FDF1-941A-EB7F-9940-700B4CFF5211}"/>
              </a:ext>
            </a:extLst>
          </p:cNvPr>
          <p:cNvSpPr/>
          <p:nvPr/>
        </p:nvSpPr>
        <p:spPr>
          <a:xfrm>
            <a:off x="1775503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4303381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E6FCCA08-EBDA-920F-3B8B-1886B6556D65}"/>
              </a:ext>
            </a:extLst>
          </p:cNvPr>
          <p:cNvSpPr/>
          <p:nvPr/>
        </p:nvSpPr>
        <p:spPr>
          <a:xfrm>
            <a:off x="4431157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6A713E04-BEC7-A3DC-FDED-A400C1A34437}"/>
              </a:ext>
            </a:extLst>
          </p:cNvPr>
          <p:cNvSpPr/>
          <p:nvPr/>
        </p:nvSpPr>
        <p:spPr>
          <a:xfrm>
            <a:off x="4480557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A424E5F-DA4E-C65F-D723-1B79C965BB48}"/>
              </a:ext>
            </a:extLst>
          </p:cNvPr>
          <p:cNvSpPr/>
          <p:nvPr/>
        </p:nvSpPr>
        <p:spPr>
          <a:xfrm>
            <a:off x="4523706" y="4200118"/>
            <a:ext cx="418405" cy="418405"/>
          </a:xfrm>
          <a:custGeom>
            <a:avLst/>
            <a:gdLst>
              <a:gd name="connsiteX0" fmla="*/ 422632 w 422631"/>
              <a:gd name="connsiteY0" fmla="*/ 211316 h 422631"/>
              <a:gd name="connsiteX1" fmla="*/ 211316 w 422631"/>
              <a:gd name="connsiteY1" fmla="*/ 422632 h 422631"/>
              <a:gd name="connsiteX2" fmla="*/ 0 w 422631"/>
              <a:gd name="connsiteY2" fmla="*/ 211316 h 422631"/>
              <a:gd name="connsiteX3" fmla="*/ 211316 w 422631"/>
              <a:gd name="connsiteY3" fmla="*/ 0 h 422631"/>
              <a:gd name="connsiteX4" fmla="*/ 422632 w 422631"/>
              <a:gd name="connsiteY4" fmla="*/ 211316 h 42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31" h="422631">
                <a:moveTo>
                  <a:pt x="422632" y="211316"/>
                </a:moveTo>
                <a:cubicBezTo>
                  <a:pt x="422632" y="328023"/>
                  <a:pt x="328023" y="422632"/>
                  <a:pt x="211316" y="422632"/>
                </a:cubicBezTo>
                <a:cubicBezTo>
                  <a:pt x="94610" y="422632"/>
                  <a:pt x="0" y="328023"/>
                  <a:pt x="0" y="211316"/>
                </a:cubicBezTo>
                <a:cubicBezTo>
                  <a:pt x="0" y="94610"/>
                  <a:pt x="94609" y="0"/>
                  <a:pt x="211316" y="0"/>
                </a:cubicBezTo>
                <a:cubicBezTo>
                  <a:pt x="328022" y="0"/>
                  <a:pt x="422632" y="94609"/>
                  <a:pt x="422632" y="21131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4303380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D8E07ACB-D96A-B1E4-6BF9-DD19E46A0E52}"/>
              </a:ext>
            </a:extLst>
          </p:cNvPr>
          <p:cNvSpPr/>
          <p:nvPr/>
        </p:nvSpPr>
        <p:spPr>
          <a:xfrm>
            <a:off x="7157044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68752FFC-A739-8248-C055-3A9E5C659191}"/>
              </a:ext>
            </a:extLst>
          </p:cNvPr>
          <p:cNvSpPr/>
          <p:nvPr/>
        </p:nvSpPr>
        <p:spPr>
          <a:xfrm>
            <a:off x="7206442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5DF35972-D486-96B1-5988-F75506BD57B0}"/>
              </a:ext>
            </a:extLst>
          </p:cNvPr>
          <p:cNvSpPr/>
          <p:nvPr/>
        </p:nvSpPr>
        <p:spPr>
          <a:xfrm>
            <a:off x="7227274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4315582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15F6710-84EA-DB81-CDD9-A345F018242B}"/>
              </a:ext>
            </a:extLst>
          </p:cNvPr>
          <p:cNvSpPr/>
          <p:nvPr/>
        </p:nvSpPr>
        <p:spPr>
          <a:xfrm>
            <a:off x="9882930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C26A8EC6-6F49-FB46-A7E5-C1739670142C}"/>
              </a:ext>
            </a:extLst>
          </p:cNvPr>
          <p:cNvSpPr/>
          <p:nvPr/>
        </p:nvSpPr>
        <p:spPr>
          <a:xfrm>
            <a:off x="9932329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08D08CC0-3202-6BCA-D09F-4E5EF177D8D7}"/>
              </a:ext>
            </a:extLst>
          </p:cNvPr>
          <p:cNvSpPr/>
          <p:nvPr/>
        </p:nvSpPr>
        <p:spPr>
          <a:xfrm>
            <a:off x="9953160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4318144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93203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2">
            <a:extLst>
              <a:ext uri="{FF2B5EF4-FFF2-40B4-BE49-F238E27FC236}">
                <a16:creationId xmlns:a16="http://schemas.microsoft.com/office/drawing/2014/main" id="{CF592A97-D7AB-C8C5-D43A-AA0C8FD11C32}"/>
              </a:ext>
            </a:extLst>
          </p:cNvPr>
          <p:cNvSpPr/>
          <p:nvPr/>
        </p:nvSpPr>
        <p:spPr>
          <a:xfrm flipV="1">
            <a:off x="2247900" y="2692400"/>
            <a:ext cx="1988643" cy="1584650"/>
          </a:xfrm>
          <a:custGeom>
            <a:avLst/>
            <a:gdLst/>
            <a:ahLst/>
            <a:cxnLst/>
            <a:rect l="l" t="t" r="r" b="b"/>
            <a:pathLst>
              <a:path w="1988643" h="1584650">
                <a:moveTo>
                  <a:pt x="0" y="0"/>
                </a:moveTo>
                <a:lnTo>
                  <a:pt x="15612" y="0"/>
                </a:lnTo>
                <a:lnTo>
                  <a:pt x="206530" y="69957"/>
                </a:lnTo>
                <a:cubicBezTo>
                  <a:pt x="403556" y="135701"/>
                  <a:pt x="608761" y="191383"/>
                  <a:pt x="820205" y="235353"/>
                </a:cubicBezTo>
                <a:cubicBezTo>
                  <a:pt x="1137374" y="301309"/>
                  <a:pt x="1446066" y="336232"/>
                  <a:pt x="1738956" y="342803"/>
                </a:cubicBezTo>
                <a:lnTo>
                  <a:pt x="1988643" y="340389"/>
                </a:lnTo>
                <a:lnTo>
                  <a:pt x="1988643" y="1244262"/>
                </a:lnTo>
                <a:lnTo>
                  <a:pt x="1738956" y="1241847"/>
                </a:lnTo>
                <a:cubicBezTo>
                  <a:pt x="1446066" y="1248419"/>
                  <a:pt x="1137374" y="1283343"/>
                  <a:pt x="820205" y="1349298"/>
                </a:cubicBezTo>
                <a:cubicBezTo>
                  <a:pt x="608761" y="1393269"/>
                  <a:pt x="403556" y="1448951"/>
                  <a:pt x="206530" y="1514695"/>
                </a:cubicBezTo>
                <a:lnTo>
                  <a:pt x="15615" y="1584650"/>
                </a:lnTo>
                <a:lnTo>
                  <a:pt x="0" y="1584650"/>
                </a:lnTo>
                <a:close/>
              </a:path>
            </a:pathLst>
          </a:custGeom>
          <a:gradFill rotWithShape="1">
            <a:gsLst>
              <a:gs pos="14000">
                <a:srgbClr val="009DD9">
                  <a:alpha val="0"/>
                </a:srgbClr>
              </a:gs>
              <a:gs pos="100000">
                <a:srgbClr val="009DD9">
                  <a:alpha val="18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9662440-0A5B-AB07-961D-01EBEC144AFD}"/>
              </a:ext>
            </a:extLst>
          </p:cNvPr>
          <p:cNvSpPr/>
          <p:nvPr/>
        </p:nvSpPr>
        <p:spPr>
          <a:xfrm flipV="1">
            <a:off x="2768600" y="39370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9CBA84F5-8704-3E5B-E294-7E5E6203A430}"/>
              </a:ext>
            </a:extLst>
          </p:cNvPr>
          <p:cNvSpPr/>
          <p:nvPr/>
        </p:nvSpPr>
        <p:spPr>
          <a:xfrm flipV="1">
            <a:off x="3949700" y="39370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8229EA79-F253-68E1-2784-A711E6727F64}"/>
              </a:ext>
            </a:extLst>
          </p:cNvPr>
          <p:cNvSpPr/>
          <p:nvPr/>
        </p:nvSpPr>
        <p:spPr>
          <a:xfrm>
            <a:off x="2768600" y="28575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6">
            <a:extLst>
              <a:ext uri="{FF2B5EF4-FFF2-40B4-BE49-F238E27FC236}">
                <a16:creationId xmlns:a16="http://schemas.microsoft.com/office/drawing/2014/main" id="{E30811D6-CE8A-4FED-9B6A-53BA68A83E1A}"/>
              </a:ext>
            </a:extLst>
          </p:cNvPr>
          <p:cNvSpPr/>
          <p:nvPr/>
        </p:nvSpPr>
        <p:spPr>
          <a:xfrm>
            <a:off x="3949700" y="29972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E4957663-A4AE-AF4C-276E-9A9711191270}"/>
              </a:ext>
            </a:extLst>
          </p:cNvPr>
          <p:cNvSpPr/>
          <p:nvPr/>
        </p:nvSpPr>
        <p:spPr>
          <a:xfrm>
            <a:off x="1104900" y="2622717"/>
            <a:ext cx="1663700" cy="1663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8">
            <a:extLst>
              <a:ext uri="{FF2B5EF4-FFF2-40B4-BE49-F238E27FC236}">
                <a16:creationId xmlns:a16="http://schemas.microsoft.com/office/drawing/2014/main" id="{22F6AB51-8E2E-6B02-14C8-CB9971561DCF}"/>
              </a:ext>
            </a:extLst>
          </p:cNvPr>
          <p:cNvCxnSpPr/>
          <p:nvPr/>
        </p:nvCxnSpPr>
        <p:spPr>
          <a:xfrm rot="3">
            <a:off x="28575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0" name="AutoShape 19">
            <a:extLst>
              <a:ext uri="{FF2B5EF4-FFF2-40B4-BE49-F238E27FC236}">
                <a16:creationId xmlns:a16="http://schemas.microsoft.com/office/drawing/2014/main" id="{4B8764D4-8F75-DE49-ABA5-27FC02CBDAFE}"/>
              </a:ext>
            </a:extLst>
          </p:cNvPr>
          <p:cNvSpPr/>
          <p:nvPr/>
        </p:nvSpPr>
        <p:spPr>
          <a:xfrm>
            <a:off x="3924300" y="2971800"/>
            <a:ext cx="1028700" cy="1028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1" name="Connector 20">
            <a:extLst>
              <a:ext uri="{FF2B5EF4-FFF2-40B4-BE49-F238E27FC236}">
                <a16:creationId xmlns:a16="http://schemas.microsoft.com/office/drawing/2014/main" id="{1E9472CD-A1B0-8AA2-B603-253C322A9E74}"/>
              </a:ext>
            </a:extLst>
          </p:cNvPr>
          <p:cNvCxnSpPr/>
          <p:nvPr/>
        </p:nvCxnSpPr>
        <p:spPr>
          <a:xfrm rot="2686695">
            <a:off x="4910715" y="401958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2" name="Connector 21">
            <a:extLst>
              <a:ext uri="{FF2B5EF4-FFF2-40B4-BE49-F238E27FC236}">
                <a16:creationId xmlns:a16="http://schemas.microsoft.com/office/drawing/2014/main" id="{8E8F842B-AE6F-B5D0-F146-6D69B9414423}"/>
              </a:ext>
            </a:extLst>
          </p:cNvPr>
          <p:cNvCxnSpPr/>
          <p:nvPr/>
        </p:nvCxnSpPr>
        <p:spPr>
          <a:xfrm rot="-2777559">
            <a:off x="4910715" y="295272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3" name="Connector 22">
            <a:extLst>
              <a:ext uri="{FF2B5EF4-FFF2-40B4-BE49-F238E27FC236}">
                <a16:creationId xmlns:a16="http://schemas.microsoft.com/office/drawing/2014/main" id="{D82605B7-70EA-0A5E-E02D-09395ED82F3D}"/>
              </a:ext>
            </a:extLst>
          </p:cNvPr>
          <p:cNvCxnSpPr/>
          <p:nvPr/>
        </p:nvCxnSpPr>
        <p:spPr>
          <a:xfrm rot="3">
            <a:off x="49149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4" name="Freeform 23">
            <a:extLst>
              <a:ext uri="{FF2B5EF4-FFF2-40B4-BE49-F238E27FC236}">
                <a16:creationId xmlns:a16="http://schemas.microsoft.com/office/drawing/2014/main" id="{99D7602F-7C29-2E5D-6EC9-DFD1CFA12DE6}"/>
              </a:ext>
            </a:extLst>
          </p:cNvPr>
          <p:cNvSpPr/>
          <p:nvPr/>
        </p:nvSpPr>
        <p:spPr>
          <a:xfrm>
            <a:off x="1511300" y="3352800"/>
            <a:ext cx="826714" cy="474627"/>
          </a:xfrm>
          <a:custGeom>
            <a:avLst/>
            <a:gdLst/>
            <a:ahLst/>
            <a:cxnLst/>
            <a:rect l="l" t="t" r="r" b="b"/>
            <a:pathLst>
              <a:path w="826714" h="474627">
                <a:moveTo>
                  <a:pt x="724886" y="70763"/>
                </a:moveTo>
                <a:lnTo>
                  <a:pt x="414219" y="291680"/>
                </a:lnTo>
                <a:lnTo>
                  <a:pt x="101829" y="70763"/>
                </a:lnTo>
                <a:lnTo>
                  <a:pt x="0" y="0"/>
                </a:lnTo>
                <a:lnTo>
                  <a:pt x="0" y="474627"/>
                </a:lnTo>
                <a:lnTo>
                  <a:pt x="826714" y="474627"/>
                </a:lnTo>
                <a:lnTo>
                  <a:pt x="826714" y="0"/>
                </a:lnTo>
                <a:lnTo>
                  <a:pt x="724886" y="7076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056E914F-9C96-5CFB-6446-F94D55A16602}"/>
              </a:ext>
            </a:extLst>
          </p:cNvPr>
          <p:cNvSpPr/>
          <p:nvPr/>
        </p:nvSpPr>
        <p:spPr>
          <a:xfrm>
            <a:off x="1600200" y="3136900"/>
            <a:ext cx="671382" cy="476353"/>
          </a:xfrm>
          <a:custGeom>
            <a:avLst/>
            <a:gdLst/>
            <a:ahLst/>
            <a:cxnLst/>
            <a:rect l="l" t="t" r="r" b="b"/>
            <a:pathLst>
              <a:path w="671382" h="476353">
                <a:moveTo>
                  <a:pt x="8952" y="248662"/>
                </a:moveTo>
                <a:cubicBezTo>
                  <a:pt x="322264" y="470361"/>
                  <a:pt x="322264" y="470361"/>
                  <a:pt x="322264" y="470361"/>
                </a:cubicBezTo>
                <a:cubicBezTo>
                  <a:pt x="325247" y="473357"/>
                  <a:pt x="331215" y="476353"/>
                  <a:pt x="337182" y="476353"/>
                </a:cubicBezTo>
                <a:cubicBezTo>
                  <a:pt x="340167" y="476353"/>
                  <a:pt x="346135" y="473357"/>
                  <a:pt x="349119" y="470361"/>
                </a:cubicBezTo>
                <a:cubicBezTo>
                  <a:pt x="662431" y="248662"/>
                  <a:pt x="662431" y="248662"/>
                  <a:pt x="662431" y="248662"/>
                </a:cubicBezTo>
                <a:cubicBezTo>
                  <a:pt x="668398" y="242670"/>
                  <a:pt x="671382" y="236678"/>
                  <a:pt x="671382" y="227691"/>
                </a:cubicBezTo>
                <a:cubicBezTo>
                  <a:pt x="671382" y="23967"/>
                  <a:pt x="671382" y="23967"/>
                  <a:pt x="671382" y="23967"/>
                </a:cubicBezTo>
                <a:cubicBezTo>
                  <a:pt x="671382" y="8988"/>
                  <a:pt x="659446" y="0"/>
                  <a:pt x="647511" y="0"/>
                </a:cubicBezTo>
                <a:cubicBezTo>
                  <a:pt x="23871" y="0"/>
                  <a:pt x="23871" y="0"/>
                  <a:pt x="23871" y="0"/>
                </a:cubicBezTo>
                <a:cubicBezTo>
                  <a:pt x="11935" y="0"/>
                  <a:pt x="0" y="8988"/>
                  <a:pt x="0" y="23967"/>
                </a:cubicBezTo>
                <a:cubicBezTo>
                  <a:pt x="0" y="227691"/>
                  <a:pt x="0" y="227691"/>
                  <a:pt x="0" y="227691"/>
                </a:cubicBezTo>
                <a:cubicBezTo>
                  <a:pt x="0" y="236678"/>
                  <a:pt x="2984" y="242670"/>
                  <a:pt x="8952" y="248662"/>
                </a:cubicBezTo>
                <a:close/>
                <a:moveTo>
                  <a:pt x="47743" y="47935"/>
                </a:moveTo>
                <a:cubicBezTo>
                  <a:pt x="623640" y="47935"/>
                  <a:pt x="623640" y="47935"/>
                  <a:pt x="623640" y="47935"/>
                </a:cubicBezTo>
                <a:cubicBezTo>
                  <a:pt x="623640" y="215707"/>
                  <a:pt x="623640" y="215707"/>
                  <a:pt x="623640" y="215707"/>
                </a:cubicBezTo>
                <a:cubicBezTo>
                  <a:pt x="337182" y="422426"/>
                  <a:pt x="337182" y="422426"/>
                  <a:pt x="337182" y="422426"/>
                </a:cubicBezTo>
                <a:cubicBezTo>
                  <a:pt x="47743" y="215707"/>
                  <a:pt x="47743" y="215707"/>
                  <a:pt x="47743" y="215707"/>
                </a:cubicBezTo>
                <a:lnTo>
                  <a:pt x="47743" y="4793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C4E73E7B-3582-FC1F-14B0-1F02E9BE5F52}"/>
              </a:ext>
            </a:extLst>
          </p:cNvPr>
          <p:cNvSpPr/>
          <p:nvPr/>
        </p:nvSpPr>
        <p:spPr>
          <a:xfrm>
            <a:off x="1714500" y="3238500"/>
            <a:ext cx="417671" cy="55228"/>
          </a:xfrm>
          <a:custGeom>
            <a:avLst/>
            <a:gdLst/>
            <a:ahLst/>
            <a:cxnLst/>
            <a:rect l="l" t="t" r="r" b="b"/>
            <a:pathLst>
              <a:path w="417671" h="55228">
                <a:moveTo>
                  <a:pt x="26850" y="55228"/>
                </a:moveTo>
                <a:cubicBezTo>
                  <a:pt x="390821" y="55228"/>
                  <a:pt x="390821" y="55228"/>
                  <a:pt x="390821" y="55228"/>
                </a:cubicBezTo>
                <a:cubicBezTo>
                  <a:pt x="405737" y="55228"/>
                  <a:pt x="417671" y="42956"/>
                  <a:pt x="417671" y="27615"/>
                </a:cubicBezTo>
                <a:cubicBezTo>
                  <a:pt x="417671" y="12273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2273"/>
                  <a:pt x="0" y="27615"/>
                </a:cubicBezTo>
                <a:cubicBezTo>
                  <a:pt x="0" y="42956"/>
                  <a:pt x="11933" y="55228"/>
                  <a:pt x="26850" y="552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7D4FAC02-FEAB-31EE-CAC3-64A1B99A9115}"/>
              </a:ext>
            </a:extLst>
          </p:cNvPr>
          <p:cNvSpPr/>
          <p:nvPr/>
        </p:nvSpPr>
        <p:spPr>
          <a:xfrm>
            <a:off x="1714500" y="3327400"/>
            <a:ext cx="417671" cy="53504"/>
          </a:xfrm>
          <a:custGeom>
            <a:avLst/>
            <a:gdLst/>
            <a:ahLst/>
            <a:cxnLst/>
            <a:rect l="l" t="t" r="r" b="b"/>
            <a:pathLst>
              <a:path w="417671" h="53504">
                <a:moveTo>
                  <a:pt x="417671" y="26753"/>
                </a:moveTo>
                <a:cubicBezTo>
                  <a:pt x="417671" y="11890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1890"/>
                  <a:pt x="0" y="26753"/>
                </a:cubicBezTo>
                <a:cubicBezTo>
                  <a:pt x="0" y="41614"/>
                  <a:pt x="11933" y="53504"/>
                  <a:pt x="26850" y="53504"/>
                </a:cubicBezTo>
                <a:cubicBezTo>
                  <a:pt x="390821" y="53504"/>
                  <a:pt x="390821" y="53504"/>
                  <a:pt x="390821" y="53504"/>
                </a:cubicBezTo>
                <a:cubicBezTo>
                  <a:pt x="405737" y="53504"/>
                  <a:pt x="417671" y="41614"/>
                  <a:pt x="417671" y="2675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FB3EA725-74B5-2254-4A32-9188761D2340}"/>
              </a:ext>
            </a:extLst>
          </p:cNvPr>
          <p:cNvSpPr/>
          <p:nvPr/>
        </p:nvSpPr>
        <p:spPr>
          <a:xfrm>
            <a:off x="4254500" y="3289300"/>
            <a:ext cx="366394" cy="389293"/>
          </a:xfrm>
          <a:custGeom>
            <a:avLst/>
            <a:gdLst/>
            <a:ahLst/>
            <a:cxnLst/>
            <a:rect l="l" t="t" r="r" b="b"/>
            <a:pathLst>
              <a:path w="366394" h="389293">
                <a:moveTo>
                  <a:pt x="308755" y="90150"/>
                </a:moveTo>
                <a:cubicBezTo>
                  <a:pt x="341696" y="118843"/>
                  <a:pt x="366394" y="163918"/>
                  <a:pt x="366394" y="217193"/>
                </a:cubicBezTo>
                <a:cubicBezTo>
                  <a:pt x="366394" y="258159"/>
                  <a:pt x="349923" y="299143"/>
                  <a:pt x="321104" y="327817"/>
                </a:cubicBezTo>
                <a:cubicBezTo>
                  <a:pt x="193493" y="217193"/>
                  <a:pt x="193493" y="217193"/>
                  <a:pt x="193493" y="217193"/>
                </a:cubicBezTo>
                <a:cubicBezTo>
                  <a:pt x="308755" y="90150"/>
                  <a:pt x="308755" y="90150"/>
                  <a:pt x="308755" y="90150"/>
                </a:cubicBezTo>
                <a:close/>
                <a:moveTo>
                  <a:pt x="312877" y="340126"/>
                </a:moveTo>
                <a:cubicBezTo>
                  <a:pt x="304650" y="348309"/>
                  <a:pt x="296407" y="356509"/>
                  <a:pt x="284057" y="360601"/>
                </a:cubicBezTo>
                <a:cubicBezTo>
                  <a:pt x="304650" y="331926"/>
                  <a:pt x="304650" y="331926"/>
                  <a:pt x="304650" y="331926"/>
                </a:cubicBezTo>
                <a:cubicBezTo>
                  <a:pt x="312877" y="340126"/>
                  <a:pt x="312877" y="340126"/>
                  <a:pt x="312877" y="340126"/>
                </a:cubicBezTo>
                <a:close/>
                <a:moveTo>
                  <a:pt x="263482" y="377002"/>
                </a:moveTo>
                <a:cubicBezTo>
                  <a:pt x="296407" y="323726"/>
                  <a:pt x="296407" y="323726"/>
                  <a:pt x="296407" y="323726"/>
                </a:cubicBezTo>
                <a:cubicBezTo>
                  <a:pt x="288180" y="315525"/>
                  <a:pt x="288180" y="315525"/>
                  <a:pt x="288180" y="315525"/>
                </a:cubicBezTo>
                <a:cubicBezTo>
                  <a:pt x="247011" y="385202"/>
                  <a:pt x="247011" y="385202"/>
                  <a:pt x="247011" y="385202"/>
                </a:cubicBezTo>
                <a:cubicBezTo>
                  <a:pt x="251116" y="381093"/>
                  <a:pt x="259359" y="377002"/>
                  <a:pt x="263482" y="377002"/>
                </a:cubicBezTo>
                <a:close/>
                <a:moveTo>
                  <a:pt x="238766" y="372910"/>
                </a:moveTo>
                <a:cubicBezTo>
                  <a:pt x="275830" y="307344"/>
                  <a:pt x="275830" y="307344"/>
                  <a:pt x="275830" y="307344"/>
                </a:cubicBezTo>
                <a:cubicBezTo>
                  <a:pt x="267586" y="303234"/>
                  <a:pt x="267586" y="303234"/>
                  <a:pt x="267586" y="303234"/>
                </a:cubicBezTo>
                <a:cubicBezTo>
                  <a:pt x="234662" y="360601"/>
                  <a:pt x="234662" y="360601"/>
                  <a:pt x="234662" y="360601"/>
                </a:cubicBezTo>
                <a:cubicBezTo>
                  <a:pt x="238766" y="372910"/>
                  <a:pt x="238766" y="372910"/>
                  <a:pt x="238766" y="372910"/>
                </a:cubicBezTo>
                <a:close/>
                <a:moveTo>
                  <a:pt x="230539" y="344218"/>
                </a:moveTo>
                <a:cubicBezTo>
                  <a:pt x="259359" y="295051"/>
                  <a:pt x="259359" y="295051"/>
                  <a:pt x="259359" y="295051"/>
                </a:cubicBezTo>
                <a:cubicBezTo>
                  <a:pt x="251116" y="286851"/>
                  <a:pt x="251116" y="286851"/>
                  <a:pt x="251116" y="286851"/>
                </a:cubicBezTo>
                <a:cubicBezTo>
                  <a:pt x="226418" y="331926"/>
                  <a:pt x="226418" y="331926"/>
                  <a:pt x="226418" y="331926"/>
                </a:cubicBezTo>
                <a:cubicBezTo>
                  <a:pt x="230539" y="344218"/>
                  <a:pt x="230539" y="344218"/>
                  <a:pt x="230539" y="344218"/>
                </a:cubicBezTo>
                <a:close/>
                <a:moveTo>
                  <a:pt x="218191" y="319635"/>
                </a:moveTo>
                <a:cubicBezTo>
                  <a:pt x="242889" y="278651"/>
                  <a:pt x="242889" y="278651"/>
                  <a:pt x="242889" y="278651"/>
                </a:cubicBezTo>
                <a:cubicBezTo>
                  <a:pt x="234662" y="270450"/>
                  <a:pt x="234662" y="270450"/>
                  <a:pt x="234662" y="270450"/>
                </a:cubicBezTo>
                <a:cubicBezTo>
                  <a:pt x="214069" y="307344"/>
                  <a:pt x="214069" y="307344"/>
                  <a:pt x="214069" y="307344"/>
                </a:cubicBezTo>
                <a:cubicBezTo>
                  <a:pt x="218191" y="319635"/>
                  <a:pt x="218191" y="319635"/>
                  <a:pt x="218191" y="319635"/>
                </a:cubicBezTo>
                <a:close/>
                <a:moveTo>
                  <a:pt x="209964" y="290943"/>
                </a:moveTo>
                <a:cubicBezTo>
                  <a:pt x="226418" y="262268"/>
                  <a:pt x="226418" y="262268"/>
                  <a:pt x="226418" y="262268"/>
                </a:cubicBezTo>
                <a:cubicBezTo>
                  <a:pt x="218191" y="254067"/>
                  <a:pt x="218191" y="254067"/>
                  <a:pt x="218191" y="254067"/>
                </a:cubicBezTo>
                <a:cubicBezTo>
                  <a:pt x="205842" y="278651"/>
                  <a:pt x="205842" y="278651"/>
                  <a:pt x="205842" y="278651"/>
                </a:cubicBezTo>
                <a:cubicBezTo>
                  <a:pt x="209964" y="290943"/>
                  <a:pt x="209964" y="290943"/>
                  <a:pt x="209964" y="290943"/>
                </a:cubicBezTo>
                <a:close/>
                <a:moveTo>
                  <a:pt x="197598" y="266360"/>
                </a:moveTo>
                <a:cubicBezTo>
                  <a:pt x="209964" y="249959"/>
                  <a:pt x="209964" y="249959"/>
                  <a:pt x="209964" y="249959"/>
                </a:cubicBezTo>
                <a:cubicBezTo>
                  <a:pt x="201720" y="241776"/>
                  <a:pt x="201720" y="241776"/>
                  <a:pt x="201720" y="241776"/>
                </a:cubicBezTo>
                <a:cubicBezTo>
                  <a:pt x="193493" y="249959"/>
                  <a:pt x="193493" y="249959"/>
                  <a:pt x="193493" y="249959"/>
                </a:cubicBezTo>
                <a:cubicBezTo>
                  <a:pt x="197598" y="266360"/>
                  <a:pt x="197598" y="266360"/>
                  <a:pt x="197598" y="266360"/>
                </a:cubicBezTo>
                <a:close/>
                <a:moveTo>
                  <a:pt x="189371" y="237667"/>
                </a:moveTo>
                <a:cubicBezTo>
                  <a:pt x="185250" y="225375"/>
                  <a:pt x="185250" y="225375"/>
                  <a:pt x="185250" y="225375"/>
                </a:cubicBezTo>
                <a:cubicBezTo>
                  <a:pt x="193493" y="233576"/>
                  <a:pt x="193493" y="233576"/>
                  <a:pt x="193493" y="233576"/>
                </a:cubicBezTo>
                <a:cubicBezTo>
                  <a:pt x="189371" y="237667"/>
                  <a:pt x="189371" y="237667"/>
                  <a:pt x="189371" y="237667"/>
                </a:cubicBezTo>
                <a:close/>
                <a:moveTo>
                  <a:pt x="242889" y="69658"/>
                </a:moveTo>
                <a:cubicBezTo>
                  <a:pt x="168796" y="221285"/>
                  <a:pt x="168796" y="221285"/>
                  <a:pt x="168796" y="221285"/>
                </a:cubicBezTo>
                <a:cubicBezTo>
                  <a:pt x="168796" y="221285"/>
                  <a:pt x="156430" y="114733"/>
                  <a:pt x="148203" y="53275"/>
                </a:cubicBezTo>
                <a:cubicBezTo>
                  <a:pt x="65866" y="61476"/>
                  <a:pt x="0" y="135226"/>
                  <a:pt x="0" y="221285"/>
                </a:cubicBezTo>
                <a:cubicBezTo>
                  <a:pt x="0" y="315525"/>
                  <a:pt x="74110" y="389293"/>
                  <a:pt x="168796" y="389293"/>
                </a:cubicBezTo>
                <a:cubicBezTo>
                  <a:pt x="189371" y="389293"/>
                  <a:pt x="209964" y="385202"/>
                  <a:pt x="226418" y="381093"/>
                </a:cubicBezTo>
                <a:cubicBezTo>
                  <a:pt x="168796" y="221285"/>
                  <a:pt x="168796" y="221285"/>
                  <a:pt x="168796" y="221285"/>
                </a:cubicBezTo>
                <a:cubicBezTo>
                  <a:pt x="279935" y="94242"/>
                  <a:pt x="279935" y="94242"/>
                  <a:pt x="279935" y="94242"/>
                </a:cubicBezTo>
                <a:cubicBezTo>
                  <a:pt x="271709" y="81949"/>
                  <a:pt x="259359" y="73768"/>
                  <a:pt x="242889" y="69658"/>
                </a:cubicBezTo>
                <a:close/>
                <a:moveTo>
                  <a:pt x="177023" y="0"/>
                </a:moveTo>
                <a:cubicBezTo>
                  <a:pt x="168796" y="0"/>
                  <a:pt x="164673" y="0"/>
                  <a:pt x="156430" y="0"/>
                </a:cubicBezTo>
                <a:cubicBezTo>
                  <a:pt x="164673" y="61476"/>
                  <a:pt x="177023" y="168008"/>
                  <a:pt x="177023" y="168008"/>
                </a:cubicBezTo>
                <a:cubicBezTo>
                  <a:pt x="251116" y="16383"/>
                  <a:pt x="251116" y="16383"/>
                  <a:pt x="251116" y="16383"/>
                </a:cubicBezTo>
                <a:cubicBezTo>
                  <a:pt x="230539" y="4091"/>
                  <a:pt x="201720" y="0"/>
                  <a:pt x="17702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62527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63123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33422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90119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1842085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06706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782103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349810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9109707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209293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6827759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4984660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96820394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4758003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8345144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5525425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1373D56-0DB8-6CB4-8E04-A5A9BF9742C0}"/>
              </a:ext>
            </a:extLst>
          </p:cNvPr>
          <p:cNvSpPr/>
          <p:nvPr/>
        </p:nvSpPr>
        <p:spPr>
          <a:xfrm>
            <a:off x="1705271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8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8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2EBCBDC-81A1-6843-2890-9E5C85206EA8}"/>
              </a:ext>
            </a:extLst>
          </p:cNvPr>
          <p:cNvSpPr/>
          <p:nvPr/>
        </p:nvSpPr>
        <p:spPr>
          <a:xfrm>
            <a:off x="1754671" y="4156969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8" y="125347"/>
                  <a:pt x="489664" y="155707"/>
                </a:cubicBezTo>
                <a:cubicBezTo>
                  <a:pt x="502890" y="187269"/>
                  <a:pt x="509803" y="2206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DA90FDF1-941A-EB7F-9940-700B4CFF5211}"/>
              </a:ext>
            </a:extLst>
          </p:cNvPr>
          <p:cNvSpPr/>
          <p:nvPr/>
        </p:nvSpPr>
        <p:spPr>
          <a:xfrm>
            <a:off x="1775503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4303381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E6FCCA08-EBDA-920F-3B8B-1886B6556D65}"/>
              </a:ext>
            </a:extLst>
          </p:cNvPr>
          <p:cNvSpPr/>
          <p:nvPr/>
        </p:nvSpPr>
        <p:spPr>
          <a:xfrm>
            <a:off x="4431157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6A713E04-BEC7-A3DC-FDED-A400C1A34437}"/>
              </a:ext>
            </a:extLst>
          </p:cNvPr>
          <p:cNvSpPr/>
          <p:nvPr/>
        </p:nvSpPr>
        <p:spPr>
          <a:xfrm>
            <a:off x="4480557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A424E5F-DA4E-C65F-D723-1B79C965BB48}"/>
              </a:ext>
            </a:extLst>
          </p:cNvPr>
          <p:cNvSpPr/>
          <p:nvPr/>
        </p:nvSpPr>
        <p:spPr>
          <a:xfrm>
            <a:off x="4523706" y="4200118"/>
            <a:ext cx="418405" cy="418405"/>
          </a:xfrm>
          <a:custGeom>
            <a:avLst/>
            <a:gdLst>
              <a:gd name="connsiteX0" fmla="*/ 422632 w 422631"/>
              <a:gd name="connsiteY0" fmla="*/ 211316 h 422631"/>
              <a:gd name="connsiteX1" fmla="*/ 211316 w 422631"/>
              <a:gd name="connsiteY1" fmla="*/ 422632 h 422631"/>
              <a:gd name="connsiteX2" fmla="*/ 0 w 422631"/>
              <a:gd name="connsiteY2" fmla="*/ 211316 h 422631"/>
              <a:gd name="connsiteX3" fmla="*/ 211316 w 422631"/>
              <a:gd name="connsiteY3" fmla="*/ 0 h 422631"/>
              <a:gd name="connsiteX4" fmla="*/ 422632 w 422631"/>
              <a:gd name="connsiteY4" fmla="*/ 211316 h 42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31" h="422631">
                <a:moveTo>
                  <a:pt x="422632" y="211316"/>
                </a:moveTo>
                <a:cubicBezTo>
                  <a:pt x="422632" y="328023"/>
                  <a:pt x="328023" y="422632"/>
                  <a:pt x="211316" y="422632"/>
                </a:cubicBezTo>
                <a:cubicBezTo>
                  <a:pt x="94610" y="422632"/>
                  <a:pt x="0" y="328023"/>
                  <a:pt x="0" y="211316"/>
                </a:cubicBezTo>
                <a:cubicBezTo>
                  <a:pt x="0" y="94610"/>
                  <a:pt x="94609" y="0"/>
                  <a:pt x="211316" y="0"/>
                </a:cubicBezTo>
                <a:cubicBezTo>
                  <a:pt x="328022" y="0"/>
                  <a:pt x="422632" y="94609"/>
                  <a:pt x="422632" y="21131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4303380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D8E07ACB-D96A-B1E4-6BF9-DD19E46A0E52}"/>
              </a:ext>
            </a:extLst>
          </p:cNvPr>
          <p:cNvSpPr/>
          <p:nvPr/>
        </p:nvSpPr>
        <p:spPr>
          <a:xfrm>
            <a:off x="7157044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68752FFC-A739-8248-C055-3A9E5C659191}"/>
              </a:ext>
            </a:extLst>
          </p:cNvPr>
          <p:cNvSpPr/>
          <p:nvPr/>
        </p:nvSpPr>
        <p:spPr>
          <a:xfrm>
            <a:off x="7206442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5DF35972-D486-96B1-5988-F75506BD57B0}"/>
              </a:ext>
            </a:extLst>
          </p:cNvPr>
          <p:cNvSpPr/>
          <p:nvPr/>
        </p:nvSpPr>
        <p:spPr>
          <a:xfrm>
            <a:off x="7227274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4315582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15F6710-84EA-DB81-CDD9-A345F018242B}"/>
              </a:ext>
            </a:extLst>
          </p:cNvPr>
          <p:cNvSpPr/>
          <p:nvPr/>
        </p:nvSpPr>
        <p:spPr>
          <a:xfrm>
            <a:off x="9882930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C26A8EC6-6F49-FB46-A7E5-C1739670142C}"/>
              </a:ext>
            </a:extLst>
          </p:cNvPr>
          <p:cNvSpPr/>
          <p:nvPr/>
        </p:nvSpPr>
        <p:spPr>
          <a:xfrm>
            <a:off x="9932329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08D08CC0-3202-6BCA-D09F-4E5EF177D8D7}"/>
              </a:ext>
            </a:extLst>
          </p:cNvPr>
          <p:cNvSpPr/>
          <p:nvPr/>
        </p:nvSpPr>
        <p:spPr>
          <a:xfrm>
            <a:off x="9953160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4318144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38315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2">
            <a:extLst>
              <a:ext uri="{FF2B5EF4-FFF2-40B4-BE49-F238E27FC236}">
                <a16:creationId xmlns:a16="http://schemas.microsoft.com/office/drawing/2014/main" id="{CF592A97-D7AB-C8C5-D43A-AA0C8FD11C32}"/>
              </a:ext>
            </a:extLst>
          </p:cNvPr>
          <p:cNvSpPr/>
          <p:nvPr/>
        </p:nvSpPr>
        <p:spPr>
          <a:xfrm flipV="1">
            <a:off x="2247900" y="2692400"/>
            <a:ext cx="1988643" cy="1584650"/>
          </a:xfrm>
          <a:custGeom>
            <a:avLst/>
            <a:gdLst/>
            <a:ahLst/>
            <a:cxnLst/>
            <a:rect l="l" t="t" r="r" b="b"/>
            <a:pathLst>
              <a:path w="1988643" h="1584650">
                <a:moveTo>
                  <a:pt x="0" y="0"/>
                </a:moveTo>
                <a:lnTo>
                  <a:pt x="15612" y="0"/>
                </a:lnTo>
                <a:lnTo>
                  <a:pt x="206530" y="69957"/>
                </a:lnTo>
                <a:cubicBezTo>
                  <a:pt x="403556" y="135701"/>
                  <a:pt x="608761" y="191383"/>
                  <a:pt x="820205" y="235353"/>
                </a:cubicBezTo>
                <a:cubicBezTo>
                  <a:pt x="1137374" y="301309"/>
                  <a:pt x="1446066" y="336232"/>
                  <a:pt x="1738956" y="342803"/>
                </a:cubicBezTo>
                <a:lnTo>
                  <a:pt x="1988643" y="340389"/>
                </a:lnTo>
                <a:lnTo>
                  <a:pt x="1988643" y="1244262"/>
                </a:lnTo>
                <a:lnTo>
                  <a:pt x="1738956" y="1241847"/>
                </a:lnTo>
                <a:cubicBezTo>
                  <a:pt x="1446066" y="1248419"/>
                  <a:pt x="1137374" y="1283343"/>
                  <a:pt x="820205" y="1349298"/>
                </a:cubicBezTo>
                <a:cubicBezTo>
                  <a:pt x="608761" y="1393269"/>
                  <a:pt x="403556" y="1448951"/>
                  <a:pt x="206530" y="1514695"/>
                </a:cubicBezTo>
                <a:lnTo>
                  <a:pt x="15615" y="1584650"/>
                </a:lnTo>
                <a:lnTo>
                  <a:pt x="0" y="1584650"/>
                </a:lnTo>
                <a:close/>
              </a:path>
            </a:pathLst>
          </a:custGeom>
          <a:gradFill rotWithShape="1">
            <a:gsLst>
              <a:gs pos="14000">
                <a:srgbClr val="009DD9">
                  <a:alpha val="0"/>
                </a:srgbClr>
              </a:gs>
              <a:gs pos="100000">
                <a:srgbClr val="009DD9">
                  <a:alpha val="18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9662440-0A5B-AB07-961D-01EBEC144AFD}"/>
              </a:ext>
            </a:extLst>
          </p:cNvPr>
          <p:cNvSpPr/>
          <p:nvPr/>
        </p:nvSpPr>
        <p:spPr>
          <a:xfrm flipV="1">
            <a:off x="2768600" y="39370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9CBA84F5-8704-3E5B-E294-7E5E6203A430}"/>
              </a:ext>
            </a:extLst>
          </p:cNvPr>
          <p:cNvSpPr/>
          <p:nvPr/>
        </p:nvSpPr>
        <p:spPr>
          <a:xfrm flipV="1">
            <a:off x="3949700" y="39370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8229EA79-F253-68E1-2784-A711E6727F64}"/>
              </a:ext>
            </a:extLst>
          </p:cNvPr>
          <p:cNvSpPr/>
          <p:nvPr/>
        </p:nvSpPr>
        <p:spPr>
          <a:xfrm>
            <a:off x="2768600" y="28575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6">
            <a:extLst>
              <a:ext uri="{FF2B5EF4-FFF2-40B4-BE49-F238E27FC236}">
                <a16:creationId xmlns:a16="http://schemas.microsoft.com/office/drawing/2014/main" id="{E30811D6-CE8A-4FED-9B6A-53BA68A83E1A}"/>
              </a:ext>
            </a:extLst>
          </p:cNvPr>
          <p:cNvSpPr/>
          <p:nvPr/>
        </p:nvSpPr>
        <p:spPr>
          <a:xfrm>
            <a:off x="3949700" y="29972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E4957663-A4AE-AF4C-276E-9A9711191270}"/>
              </a:ext>
            </a:extLst>
          </p:cNvPr>
          <p:cNvSpPr/>
          <p:nvPr/>
        </p:nvSpPr>
        <p:spPr>
          <a:xfrm>
            <a:off x="1104900" y="2622717"/>
            <a:ext cx="1663700" cy="1663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8">
            <a:extLst>
              <a:ext uri="{FF2B5EF4-FFF2-40B4-BE49-F238E27FC236}">
                <a16:creationId xmlns:a16="http://schemas.microsoft.com/office/drawing/2014/main" id="{22F6AB51-8E2E-6B02-14C8-CB9971561DCF}"/>
              </a:ext>
            </a:extLst>
          </p:cNvPr>
          <p:cNvCxnSpPr/>
          <p:nvPr/>
        </p:nvCxnSpPr>
        <p:spPr>
          <a:xfrm rot="3">
            <a:off x="28575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0" name="AutoShape 19">
            <a:extLst>
              <a:ext uri="{FF2B5EF4-FFF2-40B4-BE49-F238E27FC236}">
                <a16:creationId xmlns:a16="http://schemas.microsoft.com/office/drawing/2014/main" id="{4B8764D4-8F75-DE49-ABA5-27FC02CBDAFE}"/>
              </a:ext>
            </a:extLst>
          </p:cNvPr>
          <p:cNvSpPr/>
          <p:nvPr/>
        </p:nvSpPr>
        <p:spPr>
          <a:xfrm>
            <a:off x="3924300" y="2971800"/>
            <a:ext cx="1028700" cy="1028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1" name="Connector 20">
            <a:extLst>
              <a:ext uri="{FF2B5EF4-FFF2-40B4-BE49-F238E27FC236}">
                <a16:creationId xmlns:a16="http://schemas.microsoft.com/office/drawing/2014/main" id="{1E9472CD-A1B0-8AA2-B603-253C322A9E74}"/>
              </a:ext>
            </a:extLst>
          </p:cNvPr>
          <p:cNvCxnSpPr/>
          <p:nvPr/>
        </p:nvCxnSpPr>
        <p:spPr>
          <a:xfrm rot="2686695">
            <a:off x="4910715" y="401958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2" name="Connector 21">
            <a:extLst>
              <a:ext uri="{FF2B5EF4-FFF2-40B4-BE49-F238E27FC236}">
                <a16:creationId xmlns:a16="http://schemas.microsoft.com/office/drawing/2014/main" id="{8E8F842B-AE6F-B5D0-F146-6D69B9414423}"/>
              </a:ext>
            </a:extLst>
          </p:cNvPr>
          <p:cNvCxnSpPr/>
          <p:nvPr/>
        </p:nvCxnSpPr>
        <p:spPr>
          <a:xfrm rot="-2777559">
            <a:off x="4910715" y="295272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3" name="Connector 22">
            <a:extLst>
              <a:ext uri="{FF2B5EF4-FFF2-40B4-BE49-F238E27FC236}">
                <a16:creationId xmlns:a16="http://schemas.microsoft.com/office/drawing/2014/main" id="{D82605B7-70EA-0A5E-E02D-09395ED82F3D}"/>
              </a:ext>
            </a:extLst>
          </p:cNvPr>
          <p:cNvCxnSpPr/>
          <p:nvPr/>
        </p:nvCxnSpPr>
        <p:spPr>
          <a:xfrm rot="3">
            <a:off x="49149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4" name="Freeform 23">
            <a:extLst>
              <a:ext uri="{FF2B5EF4-FFF2-40B4-BE49-F238E27FC236}">
                <a16:creationId xmlns:a16="http://schemas.microsoft.com/office/drawing/2014/main" id="{99D7602F-7C29-2E5D-6EC9-DFD1CFA12DE6}"/>
              </a:ext>
            </a:extLst>
          </p:cNvPr>
          <p:cNvSpPr/>
          <p:nvPr/>
        </p:nvSpPr>
        <p:spPr>
          <a:xfrm>
            <a:off x="1511300" y="3352800"/>
            <a:ext cx="826714" cy="474627"/>
          </a:xfrm>
          <a:custGeom>
            <a:avLst/>
            <a:gdLst/>
            <a:ahLst/>
            <a:cxnLst/>
            <a:rect l="l" t="t" r="r" b="b"/>
            <a:pathLst>
              <a:path w="826714" h="474627">
                <a:moveTo>
                  <a:pt x="724886" y="70763"/>
                </a:moveTo>
                <a:lnTo>
                  <a:pt x="414219" y="291680"/>
                </a:lnTo>
                <a:lnTo>
                  <a:pt x="101829" y="70763"/>
                </a:lnTo>
                <a:lnTo>
                  <a:pt x="0" y="0"/>
                </a:lnTo>
                <a:lnTo>
                  <a:pt x="0" y="474627"/>
                </a:lnTo>
                <a:lnTo>
                  <a:pt x="826714" y="474627"/>
                </a:lnTo>
                <a:lnTo>
                  <a:pt x="826714" y="0"/>
                </a:lnTo>
                <a:lnTo>
                  <a:pt x="724886" y="7076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056E914F-9C96-5CFB-6446-F94D55A16602}"/>
              </a:ext>
            </a:extLst>
          </p:cNvPr>
          <p:cNvSpPr/>
          <p:nvPr/>
        </p:nvSpPr>
        <p:spPr>
          <a:xfrm>
            <a:off x="1600200" y="3136900"/>
            <a:ext cx="671382" cy="476353"/>
          </a:xfrm>
          <a:custGeom>
            <a:avLst/>
            <a:gdLst/>
            <a:ahLst/>
            <a:cxnLst/>
            <a:rect l="l" t="t" r="r" b="b"/>
            <a:pathLst>
              <a:path w="671382" h="476353">
                <a:moveTo>
                  <a:pt x="8952" y="248662"/>
                </a:moveTo>
                <a:cubicBezTo>
                  <a:pt x="322264" y="470361"/>
                  <a:pt x="322264" y="470361"/>
                  <a:pt x="322264" y="470361"/>
                </a:cubicBezTo>
                <a:cubicBezTo>
                  <a:pt x="325247" y="473357"/>
                  <a:pt x="331215" y="476353"/>
                  <a:pt x="337182" y="476353"/>
                </a:cubicBezTo>
                <a:cubicBezTo>
                  <a:pt x="340167" y="476353"/>
                  <a:pt x="346135" y="473357"/>
                  <a:pt x="349119" y="470361"/>
                </a:cubicBezTo>
                <a:cubicBezTo>
                  <a:pt x="662431" y="248662"/>
                  <a:pt x="662431" y="248662"/>
                  <a:pt x="662431" y="248662"/>
                </a:cubicBezTo>
                <a:cubicBezTo>
                  <a:pt x="668398" y="242670"/>
                  <a:pt x="671382" y="236678"/>
                  <a:pt x="671382" y="227691"/>
                </a:cubicBezTo>
                <a:cubicBezTo>
                  <a:pt x="671382" y="23967"/>
                  <a:pt x="671382" y="23967"/>
                  <a:pt x="671382" y="23967"/>
                </a:cubicBezTo>
                <a:cubicBezTo>
                  <a:pt x="671382" y="8988"/>
                  <a:pt x="659446" y="0"/>
                  <a:pt x="647511" y="0"/>
                </a:cubicBezTo>
                <a:cubicBezTo>
                  <a:pt x="23871" y="0"/>
                  <a:pt x="23871" y="0"/>
                  <a:pt x="23871" y="0"/>
                </a:cubicBezTo>
                <a:cubicBezTo>
                  <a:pt x="11935" y="0"/>
                  <a:pt x="0" y="8988"/>
                  <a:pt x="0" y="23967"/>
                </a:cubicBezTo>
                <a:cubicBezTo>
                  <a:pt x="0" y="227691"/>
                  <a:pt x="0" y="227691"/>
                  <a:pt x="0" y="227691"/>
                </a:cubicBezTo>
                <a:cubicBezTo>
                  <a:pt x="0" y="236678"/>
                  <a:pt x="2984" y="242670"/>
                  <a:pt x="8952" y="248662"/>
                </a:cubicBezTo>
                <a:close/>
                <a:moveTo>
                  <a:pt x="47743" y="47935"/>
                </a:moveTo>
                <a:cubicBezTo>
                  <a:pt x="623640" y="47935"/>
                  <a:pt x="623640" y="47935"/>
                  <a:pt x="623640" y="47935"/>
                </a:cubicBezTo>
                <a:cubicBezTo>
                  <a:pt x="623640" y="215707"/>
                  <a:pt x="623640" y="215707"/>
                  <a:pt x="623640" y="215707"/>
                </a:cubicBezTo>
                <a:cubicBezTo>
                  <a:pt x="337182" y="422426"/>
                  <a:pt x="337182" y="422426"/>
                  <a:pt x="337182" y="422426"/>
                </a:cubicBezTo>
                <a:cubicBezTo>
                  <a:pt x="47743" y="215707"/>
                  <a:pt x="47743" y="215707"/>
                  <a:pt x="47743" y="215707"/>
                </a:cubicBezTo>
                <a:lnTo>
                  <a:pt x="47743" y="4793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C4E73E7B-3582-FC1F-14B0-1F02E9BE5F52}"/>
              </a:ext>
            </a:extLst>
          </p:cNvPr>
          <p:cNvSpPr/>
          <p:nvPr/>
        </p:nvSpPr>
        <p:spPr>
          <a:xfrm>
            <a:off x="1714500" y="3238500"/>
            <a:ext cx="417671" cy="55228"/>
          </a:xfrm>
          <a:custGeom>
            <a:avLst/>
            <a:gdLst/>
            <a:ahLst/>
            <a:cxnLst/>
            <a:rect l="l" t="t" r="r" b="b"/>
            <a:pathLst>
              <a:path w="417671" h="55228">
                <a:moveTo>
                  <a:pt x="26850" y="55228"/>
                </a:moveTo>
                <a:cubicBezTo>
                  <a:pt x="390821" y="55228"/>
                  <a:pt x="390821" y="55228"/>
                  <a:pt x="390821" y="55228"/>
                </a:cubicBezTo>
                <a:cubicBezTo>
                  <a:pt x="405737" y="55228"/>
                  <a:pt x="417671" y="42956"/>
                  <a:pt x="417671" y="27615"/>
                </a:cubicBezTo>
                <a:cubicBezTo>
                  <a:pt x="417671" y="12273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2273"/>
                  <a:pt x="0" y="27615"/>
                </a:cubicBezTo>
                <a:cubicBezTo>
                  <a:pt x="0" y="42956"/>
                  <a:pt x="11933" y="55228"/>
                  <a:pt x="26850" y="552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7D4FAC02-FEAB-31EE-CAC3-64A1B99A9115}"/>
              </a:ext>
            </a:extLst>
          </p:cNvPr>
          <p:cNvSpPr/>
          <p:nvPr/>
        </p:nvSpPr>
        <p:spPr>
          <a:xfrm>
            <a:off x="1714500" y="3327400"/>
            <a:ext cx="417671" cy="53504"/>
          </a:xfrm>
          <a:custGeom>
            <a:avLst/>
            <a:gdLst/>
            <a:ahLst/>
            <a:cxnLst/>
            <a:rect l="l" t="t" r="r" b="b"/>
            <a:pathLst>
              <a:path w="417671" h="53504">
                <a:moveTo>
                  <a:pt x="417671" y="26753"/>
                </a:moveTo>
                <a:cubicBezTo>
                  <a:pt x="417671" y="11890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1890"/>
                  <a:pt x="0" y="26753"/>
                </a:cubicBezTo>
                <a:cubicBezTo>
                  <a:pt x="0" y="41614"/>
                  <a:pt x="11933" y="53504"/>
                  <a:pt x="26850" y="53504"/>
                </a:cubicBezTo>
                <a:cubicBezTo>
                  <a:pt x="390821" y="53504"/>
                  <a:pt x="390821" y="53504"/>
                  <a:pt x="390821" y="53504"/>
                </a:cubicBezTo>
                <a:cubicBezTo>
                  <a:pt x="405737" y="53504"/>
                  <a:pt x="417671" y="41614"/>
                  <a:pt x="417671" y="2675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FB3EA725-74B5-2254-4A32-9188761D2340}"/>
              </a:ext>
            </a:extLst>
          </p:cNvPr>
          <p:cNvSpPr/>
          <p:nvPr/>
        </p:nvSpPr>
        <p:spPr>
          <a:xfrm>
            <a:off x="4254500" y="3289300"/>
            <a:ext cx="366394" cy="389293"/>
          </a:xfrm>
          <a:custGeom>
            <a:avLst/>
            <a:gdLst/>
            <a:ahLst/>
            <a:cxnLst/>
            <a:rect l="l" t="t" r="r" b="b"/>
            <a:pathLst>
              <a:path w="366394" h="389293">
                <a:moveTo>
                  <a:pt x="308755" y="90150"/>
                </a:moveTo>
                <a:cubicBezTo>
                  <a:pt x="341696" y="118843"/>
                  <a:pt x="366394" y="163918"/>
                  <a:pt x="366394" y="217193"/>
                </a:cubicBezTo>
                <a:cubicBezTo>
                  <a:pt x="366394" y="258159"/>
                  <a:pt x="349923" y="299143"/>
                  <a:pt x="321104" y="327817"/>
                </a:cubicBezTo>
                <a:cubicBezTo>
                  <a:pt x="193493" y="217193"/>
                  <a:pt x="193493" y="217193"/>
                  <a:pt x="193493" y="217193"/>
                </a:cubicBezTo>
                <a:cubicBezTo>
                  <a:pt x="308755" y="90150"/>
                  <a:pt x="308755" y="90150"/>
                  <a:pt x="308755" y="90150"/>
                </a:cubicBezTo>
                <a:close/>
                <a:moveTo>
                  <a:pt x="312877" y="340126"/>
                </a:moveTo>
                <a:cubicBezTo>
                  <a:pt x="304650" y="348309"/>
                  <a:pt x="296407" y="356509"/>
                  <a:pt x="284057" y="360601"/>
                </a:cubicBezTo>
                <a:cubicBezTo>
                  <a:pt x="304650" y="331926"/>
                  <a:pt x="304650" y="331926"/>
                  <a:pt x="304650" y="331926"/>
                </a:cubicBezTo>
                <a:cubicBezTo>
                  <a:pt x="312877" y="340126"/>
                  <a:pt x="312877" y="340126"/>
                  <a:pt x="312877" y="340126"/>
                </a:cubicBezTo>
                <a:close/>
                <a:moveTo>
                  <a:pt x="263482" y="377002"/>
                </a:moveTo>
                <a:cubicBezTo>
                  <a:pt x="296407" y="323726"/>
                  <a:pt x="296407" y="323726"/>
                  <a:pt x="296407" y="323726"/>
                </a:cubicBezTo>
                <a:cubicBezTo>
                  <a:pt x="288180" y="315525"/>
                  <a:pt x="288180" y="315525"/>
                  <a:pt x="288180" y="315525"/>
                </a:cubicBezTo>
                <a:cubicBezTo>
                  <a:pt x="247011" y="385202"/>
                  <a:pt x="247011" y="385202"/>
                  <a:pt x="247011" y="385202"/>
                </a:cubicBezTo>
                <a:cubicBezTo>
                  <a:pt x="251116" y="381093"/>
                  <a:pt x="259359" y="377002"/>
                  <a:pt x="263482" y="377002"/>
                </a:cubicBezTo>
                <a:close/>
                <a:moveTo>
                  <a:pt x="238766" y="372910"/>
                </a:moveTo>
                <a:cubicBezTo>
                  <a:pt x="275830" y="307344"/>
                  <a:pt x="275830" y="307344"/>
                  <a:pt x="275830" y="307344"/>
                </a:cubicBezTo>
                <a:cubicBezTo>
                  <a:pt x="267586" y="303234"/>
                  <a:pt x="267586" y="303234"/>
                  <a:pt x="267586" y="303234"/>
                </a:cubicBezTo>
                <a:cubicBezTo>
                  <a:pt x="234662" y="360601"/>
                  <a:pt x="234662" y="360601"/>
                  <a:pt x="234662" y="360601"/>
                </a:cubicBezTo>
                <a:cubicBezTo>
                  <a:pt x="238766" y="372910"/>
                  <a:pt x="238766" y="372910"/>
                  <a:pt x="238766" y="372910"/>
                </a:cubicBezTo>
                <a:close/>
                <a:moveTo>
                  <a:pt x="230539" y="344218"/>
                </a:moveTo>
                <a:cubicBezTo>
                  <a:pt x="259359" y="295051"/>
                  <a:pt x="259359" y="295051"/>
                  <a:pt x="259359" y="295051"/>
                </a:cubicBezTo>
                <a:cubicBezTo>
                  <a:pt x="251116" y="286851"/>
                  <a:pt x="251116" y="286851"/>
                  <a:pt x="251116" y="286851"/>
                </a:cubicBezTo>
                <a:cubicBezTo>
                  <a:pt x="226418" y="331926"/>
                  <a:pt x="226418" y="331926"/>
                  <a:pt x="226418" y="331926"/>
                </a:cubicBezTo>
                <a:cubicBezTo>
                  <a:pt x="230539" y="344218"/>
                  <a:pt x="230539" y="344218"/>
                  <a:pt x="230539" y="344218"/>
                </a:cubicBezTo>
                <a:close/>
                <a:moveTo>
                  <a:pt x="218191" y="319635"/>
                </a:moveTo>
                <a:cubicBezTo>
                  <a:pt x="242889" y="278651"/>
                  <a:pt x="242889" y="278651"/>
                  <a:pt x="242889" y="278651"/>
                </a:cubicBezTo>
                <a:cubicBezTo>
                  <a:pt x="234662" y="270450"/>
                  <a:pt x="234662" y="270450"/>
                  <a:pt x="234662" y="270450"/>
                </a:cubicBezTo>
                <a:cubicBezTo>
                  <a:pt x="214069" y="307344"/>
                  <a:pt x="214069" y="307344"/>
                  <a:pt x="214069" y="307344"/>
                </a:cubicBezTo>
                <a:cubicBezTo>
                  <a:pt x="218191" y="319635"/>
                  <a:pt x="218191" y="319635"/>
                  <a:pt x="218191" y="319635"/>
                </a:cubicBezTo>
                <a:close/>
                <a:moveTo>
                  <a:pt x="209964" y="290943"/>
                </a:moveTo>
                <a:cubicBezTo>
                  <a:pt x="226418" y="262268"/>
                  <a:pt x="226418" y="262268"/>
                  <a:pt x="226418" y="262268"/>
                </a:cubicBezTo>
                <a:cubicBezTo>
                  <a:pt x="218191" y="254067"/>
                  <a:pt x="218191" y="254067"/>
                  <a:pt x="218191" y="254067"/>
                </a:cubicBezTo>
                <a:cubicBezTo>
                  <a:pt x="205842" y="278651"/>
                  <a:pt x="205842" y="278651"/>
                  <a:pt x="205842" y="278651"/>
                </a:cubicBezTo>
                <a:cubicBezTo>
                  <a:pt x="209964" y="290943"/>
                  <a:pt x="209964" y="290943"/>
                  <a:pt x="209964" y="290943"/>
                </a:cubicBezTo>
                <a:close/>
                <a:moveTo>
                  <a:pt x="197598" y="266360"/>
                </a:moveTo>
                <a:cubicBezTo>
                  <a:pt x="209964" y="249959"/>
                  <a:pt x="209964" y="249959"/>
                  <a:pt x="209964" y="249959"/>
                </a:cubicBezTo>
                <a:cubicBezTo>
                  <a:pt x="201720" y="241776"/>
                  <a:pt x="201720" y="241776"/>
                  <a:pt x="201720" y="241776"/>
                </a:cubicBezTo>
                <a:cubicBezTo>
                  <a:pt x="193493" y="249959"/>
                  <a:pt x="193493" y="249959"/>
                  <a:pt x="193493" y="249959"/>
                </a:cubicBezTo>
                <a:cubicBezTo>
                  <a:pt x="197598" y="266360"/>
                  <a:pt x="197598" y="266360"/>
                  <a:pt x="197598" y="266360"/>
                </a:cubicBezTo>
                <a:close/>
                <a:moveTo>
                  <a:pt x="189371" y="237667"/>
                </a:moveTo>
                <a:cubicBezTo>
                  <a:pt x="185250" y="225375"/>
                  <a:pt x="185250" y="225375"/>
                  <a:pt x="185250" y="225375"/>
                </a:cubicBezTo>
                <a:cubicBezTo>
                  <a:pt x="193493" y="233576"/>
                  <a:pt x="193493" y="233576"/>
                  <a:pt x="193493" y="233576"/>
                </a:cubicBezTo>
                <a:cubicBezTo>
                  <a:pt x="189371" y="237667"/>
                  <a:pt x="189371" y="237667"/>
                  <a:pt x="189371" y="237667"/>
                </a:cubicBezTo>
                <a:close/>
                <a:moveTo>
                  <a:pt x="242889" y="69658"/>
                </a:moveTo>
                <a:cubicBezTo>
                  <a:pt x="168796" y="221285"/>
                  <a:pt x="168796" y="221285"/>
                  <a:pt x="168796" y="221285"/>
                </a:cubicBezTo>
                <a:cubicBezTo>
                  <a:pt x="168796" y="221285"/>
                  <a:pt x="156430" y="114733"/>
                  <a:pt x="148203" y="53275"/>
                </a:cubicBezTo>
                <a:cubicBezTo>
                  <a:pt x="65866" y="61476"/>
                  <a:pt x="0" y="135226"/>
                  <a:pt x="0" y="221285"/>
                </a:cubicBezTo>
                <a:cubicBezTo>
                  <a:pt x="0" y="315525"/>
                  <a:pt x="74110" y="389293"/>
                  <a:pt x="168796" y="389293"/>
                </a:cubicBezTo>
                <a:cubicBezTo>
                  <a:pt x="189371" y="389293"/>
                  <a:pt x="209964" y="385202"/>
                  <a:pt x="226418" y="381093"/>
                </a:cubicBezTo>
                <a:cubicBezTo>
                  <a:pt x="168796" y="221285"/>
                  <a:pt x="168796" y="221285"/>
                  <a:pt x="168796" y="221285"/>
                </a:cubicBezTo>
                <a:cubicBezTo>
                  <a:pt x="279935" y="94242"/>
                  <a:pt x="279935" y="94242"/>
                  <a:pt x="279935" y="94242"/>
                </a:cubicBezTo>
                <a:cubicBezTo>
                  <a:pt x="271709" y="81949"/>
                  <a:pt x="259359" y="73768"/>
                  <a:pt x="242889" y="69658"/>
                </a:cubicBezTo>
                <a:close/>
                <a:moveTo>
                  <a:pt x="177023" y="0"/>
                </a:moveTo>
                <a:cubicBezTo>
                  <a:pt x="168796" y="0"/>
                  <a:pt x="164673" y="0"/>
                  <a:pt x="156430" y="0"/>
                </a:cubicBezTo>
                <a:cubicBezTo>
                  <a:pt x="164673" y="61476"/>
                  <a:pt x="177023" y="168008"/>
                  <a:pt x="177023" y="168008"/>
                </a:cubicBezTo>
                <a:cubicBezTo>
                  <a:pt x="251116" y="16383"/>
                  <a:pt x="251116" y="16383"/>
                  <a:pt x="251116" y="16383"/>
                </a:cubicBezTo>
                <a:cubicBezTo>
                  <a:pt x="230539" y="4091"/>
                  <a:pt x="201720" y="0"/>
                  <a:pt x="17702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849387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17901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00029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9742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0916015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91413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939722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620474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190874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781718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0083391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18106385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5765829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8611199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0339663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2525666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2525665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2537867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2540429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588922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2">
            <a:extLst>
              <a:ext uri="{FF2B5EF4-FFF2-40B4-BE49-F238E27FC236}">
                <a16:creationId xmlns:a16="http://schemas.microsoft.com/office/drawing/2014/main" id="{CF592A97-D7AB-C8C5-D43A-AA0C8FD11C32}"/>
              </a:ext>
            </a:extLst>
          </p:cNvPr>
          <p:cNvSpPr/>
          <p:nvPr/>
        </p:nvSpPr>
        <p:spPr>
          <a:xfrm flipV="1">
            <a:off x="2247900" y="2692400"/>
            <a:ext cx="1988643" cy="1584650"/>
          </a:xfrm>
          <a:custGeom>
            <a:avLst/>
            <a:gdLst/>
            <a:ahLst/>
            <a:cxnLst/>
            <a:rect l="l" t="t" r="r" b="b"/>
            <a:pathLst>
              <a:path w="1988643" h="1584650">
                <a:moveTo>
                  <a:pt x="0" y="0"/>
                </a:moveTo>
                <a:lnTo>
                  <a:pt x="15612" y="0"/>
                </a:lnTo>
                <a:lnTo>
                  <a:pt x="206530" y="69957"/>
                </a:lnTo>
                <a:cubicBezTo>
                  <a:pt x="403556" y="135701"/>
                  <a:pt x="608761" y="191383"/>
                  <a:pt x="820205" y="235353"/>
                </a:cubicBezTo>
                <a:cubicBezTo>
                  <a:pt x="1137374" y="301309"/>
                  <a:pt x="1446066" y="336232"/>
                  <a:pt x="1738956" y="342803"/>
                </a:cubicBezTo>
                <a:lnTo>
                  <a:pt x="1988643" y="340389"/>
                </a:lnTo>
                <a:lnTo>
                  <a:pt x="1988643" y="1244262"/>
                </a:lnTo>
                <a:lnTo>
                  <a:pt x="1738956" y="1241847"/>
                </a:lnTo>
                <a:cubicBezTo>
                  <a:pt x="1446066" y="1248419"/>
                  <a:pt x="1137374" y="1283343"/>
                  <a:pt x="820205" y="1349298"/>
                </a:cubicBezTo>
                <a:cubicBezTo>
                  <a:pt x="608761" y="1393269"/>
                  <a:pt x="403556" y="1448951"/>
                  <a:pt x="206530" y="1514695"/>
                </a:cubicBezTo>
                <a:lnTo>
                  <a:pt x="15615" y="1584650"/>
                </a:lnTo>
                <a:lnTo>
                  <a:pt x="0" y="1584650"/>
                </a:lnTo>
                <a:close/>
              </a:path>
            </a:pathLst>
          </a:custGeom>
          <a:gradFill rotWithShape="1">
            <a:gsLst>
              <a:gs pos="14000">
                <a:srgbClr val="009DD9">
                  <a:alpha val="0"/>
                </a:srgbClr>
              </a:gs>
              <a:gs pos="100000">
                <a:srgbClr val="009DD9">
                  <a:alpha val="18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9662440-0A5B-AB07-961D-01EBEC144AFD}"/>
              </a:ext>
            </a:extLst>
          </p:cNvPr>
          <p:cNvSpPr/>
          <p:nvPr/>
        </p:nvSpPr>
        <p:spPr>
          <a:xfrm flipV="1">
            <a:off x="2768600" y="39370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9CBA84F5-8704-3E5B-E294-7E5E6203A430}"/>
              </a:ext>
            </a:extLst>
          </p:cNvPr>
          <p:cNvSpPr/>
          <p:nvPr/>
        </p:nvSpPr>
        <p:spPr>
          <a:xfrm flipV="1">
            <a:off x="3949700" y="39370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8229EA79-F253-68E1-2784-A711E6727F64}"/>
              </a:ext>
            </a:extLst>
          </p:cNvPr>
          <p:cNvSpPr/>
          <p:nvPr/>
        </p:nvSpPr>
        <p:spPr>
          <a:xfrm>
            <a:off x="2768600" y="28575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6">
            <a:extLst>
              <a:ext uri="{FF2B5EF4-FFF2-40B4-BE49-F238E27FC236}">
                <a16:creationId xmlns:a16="http://schemas.microsoft.com/office/drawing/2014/main" id="{E30811D6-CE8A-4FED-9B6A-53BA68A83E1A}"/>
              </a:ext>
            </a:extLst>
          </p:cNvPr>
          <p:cNvSpPr/>
          <p:nvPr/>
        </p:nvSpPr>
        <p:spPr>
          <a:xfrm>
            <a:off x="3949700" y="29972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E4957663-A4AE-AF4C-276E-9A9711191270}"/>
              </a:ext>
            </a:extLst>
          </p:cNvPr>
          <p:cNvSpPr/>
          <p:nvPr/>
        </p:nvSpPr>
        <p:spPr>
          <a:xfrm>
            <a:off x="1104900" y="2622717"/>
            <a:ext cx="1663700" cy="1663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8">
            <a:extLst>
              <a:ext uri="{FF2B5EF4-FFF2-40B4-BE49-F238E27FC236}">
                <a16:creationId xmlns:a16="http://schemas.microsoft.com/office/drawing/2014/main" id="{22F6AB51-8E2E-6B02-14C8-CB9971561DCF}"/>
              </a:ext>
            </a:extLst>
          </p:cNvPr>
          <p:cNvCxnSpPr/>
          <p:nvPr/>
        </p:nvCxnSpPr>
        <p:spPr>
          <a:xfrm rot="3">
            <a:off x="28575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0" name="AutoShape 19">
            <a:extLst>
              <a:ext uri="{FF2B5EF4-FFF2-40B4-BE49-F238E27FC236}">
                <a16:creationId xmlns:a16="http://schemas.microsoft.com/office/drawing/2014/main" id="{4B8764D4-8F75-DE49-ABA5-27FC02CBDAFE}"/>
              </a:ext>
            </a:extLst>
          </p:cNvPr>
          <p:cNvSpPr/>
          <p:nvPr/>
        </p:nvSpPr>
        <p:spPr>
          <a:xfrm>
            <a:off x="3924300" y="2971800"/>
            <a:ext cx="1028700" cy="1028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1" name="Connector 20">
            <a:extLst>
              <a:ext uri="{FF2B5EF4-FFF2-40B4-BE49-F238E27FC236}">
                <a16:creationId xmlns:a16="http://schemas.microsoft.com/office/drawing/2014/main" id="{1E9472CD-A1B0-8AA2-B603-253C322A9E74}"/>
              </a:ext>
            </a:extLst>
          </p:cNvPr>
          <p:cNvCxnSpPr/>
          <p:nvPr/>
        </p:nvCxnSpPr>
        <p:spPr>
          <a:xfrm rot="2686695">
            <a:off x="4910715" y="401958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2" name="Connector 21">
            <a:extLst>
              <a:ext uri="{FF2B5EF4-FFF2-40B4-BE49-F238E27FC236}">
                <a16:creationId xmlns:a16="http://schemas.microsoft.com/office/drawing/2014/main" id="{8E8F842B-AE6F-B5D0-F146-6D69B9414423}"/>
              </a:ext>
            </a:extLst>
          </p:cNvPr>
          <p:cNvCxnSpPr/>
          <p:nvPr/>
        </p:nvCxnSpPr>
        <p:spPr>
          <a:xfrm rot="-2777559">
            <a:off x="4910715" y="295272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3" name="Connector 22">
            <a:extLst>
              <a:ext uri="{FF2B5EF4-FFF2-40B4-BE49-F238E27FC236}">
                <a16:creationId xmlns:a16="http://schemas.microsoft.com/office/drawing/2014/main" id="{D82605B7-70EA-0A5E-E02D-09395ED82F3D}"/>
              </a:ext>
            </a:extLst>
          </p:cNvPr>
          <p:cNvCxnSpPr/>
          <p:nvPr/>
        </p:nvCxnSpPr>
        <p:spPr>
          <a:xfrm rot="3">
            <a:off x="49149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4" name="Freeform 23">
            <a:extLst>
              <a:ext uri="{FF2B5EF4-FFF2-40B4-BE49-F238E27FC236}">
                <a16:creationId xmlns:a16="http://schemas.microsoft.com/office/drawing/2014/main" id="{99D7602F-7C29-2E5D-6EC9-DFD1CFA12DE6}"/>
              </a:ext>
            </a:extLst>
          </p:cNvPr>
          <p:cNvSpPr/>
          <p:nvPr/>
        </p:nvSpPr>
        <p:spPr>
          <a:xfrm>
            <a:off x="1511300" y="3352800"/>
            <a:ext cx="826714" cy="474627"/>
          </a:xfrm>
          <a:custGeom>
            <a:avLst/>
            <a:gdLst/>
            <a:ahLst/>
            <a:cxnLst/>
            <a:rect l="l" t="t" r="r" b="b"/>
            <a:pathLst>
              <a:path w="826714" h="474627">
                <a:moveTo>
                  <a:pt x="724886" y="70763"/>
                </a:moveTo>
                <a:lnTo>
                  <a:pt x="414219" y="291680"/>
                </a:lnTo>
                <a:lnTo>
                  <a:pt x="101829" y="70763"/>
                </a:lnTo>
                <a:lnTo>
                  <a:pt x="0" y="0"/>
                </a:lnTo>
                <a:lnTo>
                  <a:pt x="0" y="474627"/>
                </a:lnTo>
                <a:lnTo>
                  <a:pt x="826714" y="474627"/>
                </a:lnTo>
                <a:lnTo>
                  <a:pt x="826714" y="0"/>
                </a:lnTo>
                <a:lnTo>
                  <a:pt x="724886" y="7076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056E914F-9C96-5CFB-6446-F94D55A16602}"/>
              </a:ext>
            </a:extLst>
          </p:cNvPr>
          <p:cNvSpPr/>
          <p:nvPr/>
        </p:nvSpPr>
        <p:spPr>
          <a:xfrm>
            <a:off x="1600200" y="3136900"/>
            <a:ext cx="671382" cy="476353"/>
          </a:xfrm>
          <a:custGeom>
            <a:avLst/>
            <a:gdLst/>
            <a:ahLst/>
            <a:cxnLst/>
            <a:rect l="l" t="t" r="r" b="b"/>
            <a:pathLst>
              <a:path w="671382" h="476353">
                <a:moveTo>
                  <a:pt x="8952" y="248662"/>
                </a:moveTo>
                <a:cubicBezTo>
                  <a:pt x="322264" y="470361"/>
                  <a:pt x="322264" y="470361"/>
                  <a:pt x="322264" y="470361"/>
                </a:cubicBezTo>
                <a:cubicBezTo>
                  <a:pt x="325247" y="473357"/>
                  <a:pt x="331215" y="476353"/>
                  <a:pt x="337182" y="476353"/>
                </a:cubicBezTo>
                <a:cubicBezTo>
                  <a:pt x="340167" y="476353"/>
                  <a:pt x="346135" y="473357"/>
                  <a:pt x="349119" y="470361"/>
                </a:cubicBezTo>
                <a:cubicBezTo>
                  <a:pt x="662431" y="248662"/>
                  <a:pt x="662431" y="248662"/>
                  <a:pt x="662431" y="248662"/>
                </a:cubicBezTo>
                <a:cubicBezTo>
                  <a:pt x="668398" y="242670"/>
                  <a:pt x="671382" y="236678"/>
                  <a:pt x="671382" y="227691"/>
                </a:cubicBezTo>
                <a:cubicBezTo>
                  <a:pt x="671382" y="23967"/>
                  <a:pt x="671382" y="23967"/>
                  <a:pt x="671382" y="23967"/>
                </a:cubicBezTo>
                <a:cubicBezTo>
                  <a:pt x="671382" y="8988"/>
                  <a:pt x="659446" y="0"/>
                  <a:pt x="647511" y="0"/>
                </a:cubicBezTo>
                <a:cubicBezTo>
                  <a:pt x="23871" y="0"/>
                  <a:pt x="23871" y="0"/>
                  <a:pt x="23871" y="0"/>
                </a:cubicBezTo>
                <a:cubicBezTo>
                  <a:pt x="11935" y="0"/>
                  <a:pt x="0" y="8988"/>
                  <a:pt x="0" y="23967"/>
                </a:cubicBezTo>
                <a:cubicBezTo>
                  <a:pt x="0" y="227691"/>
                  <a:pt x="0" y="227691"/>
                  <a:pt x="0" y="227691"/>
                </a:cubicBezTo>
                <a:cubicBezTo>
                  <a:pt x="0" y="236678"/>
                  <a:pt x="2984" y="242670"/>
                  <a:pt x="8952" y="248662"/>
                </a:cubicBezTo>
                <a:close/>
                <a:moveTo>
                  <a:pt x="47743" y="47935"/>
                </a:moveTo>
                <a:cubicBezTo>
                  <a:pt x="623640" y="47935"/>
                  <a:pt x="623640" y="47935"/>
                  <a:pt x="623640" y="47935"/>
                </a:cubicBezTo>
                <a:cubicBezTo>
                  <a:pt x="623640" y="215707"/>
                  <a:pt x="623640" y="215707"/>
                  <a:pt x="623640" y="215707"/>
                </a:cubicBezTo>
                <a:cubicBezTo>
                  <a:pt x="337182" y="422426"/>
                  <a:pt x="337182" y="422426"/>
                  <a:pt x="337182" y="422426"/>
                </a:cubicBezTo>
                <a:cubicBezTo>
                  <a:pt x="47743" y="215707"/>
                  <a:pt x="47743" y="215707"/>
                  <a:pt x="47743" y="215707"/>
                </a:cubicBezTo>
                <a:lnTo>
                  <a:pt x="47743" y="4793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C4E73E7B-3582-FC1F-14B0-1F02E9BE5F52}"/>
              </a:ext>
            </a:extLst>
          </p:cNvPr>
          <p:cNvSpPr/>
          <p:nvPr/>
        </p:nvSpPr>
        <p:spPr>
          <a:xfrm>
            <a:off x="1714500" y="3238500"/>
            <a:ext cx="417671" cy="55228"/>
          </a:xfrm>
          <a:custGeom>
            <a:avLst/>
            <a:gdLst/>
            <a:ahLst/>
            <a:cxnLst/>
            <a:rect l="l" t="t" r="r" b="b"/>
            <a:pathLst>
              <a:path w="417671" h="55228">
                <a:moveTo>
                  <a:pt x="26850" y="55228"/>
                </a:moveTo>
                <a:cubicBezTo>
                  <a:pt x="390821" y="55228"/>
                  <a:pt x="390821" y="55228"/>
                  <a:pt x="390821" y="55228"/>
                </a:cubicBezTo>
                <a:cubicBezTo>
                  <a:pt x="405737" y="55228"/>
                  <a:pt x="417671" y="42956"/>
                  <a:pt x="417671" y="27615"/>
                </a:cubicBezTo>
                <a:cubicBezTo>
                  <a:pt x="417671" y="12273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2273"/>
                  <a:pt x="0" y="27615"/>
                </a:cubicBezTo>
                <a:cubicBezTo>
                  <a:pt x="0" y="42956"/>
                  <a:pt x="11933" y="55228"/>
                  <a:pt x="26850" y="552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7D4FAC02-FEAB-31EE-CAC3-64A1B99A9115}"/>
              </a:ext>
            </a:extLst>
          </p:cNvPr>
          <p:cNvSpPr/>
          <p:nvPr/>
        </p:nvSpPr>
        <p:spPr>
          <a:xfrm>
            <a:off x="1714500" y="3327400"/>
            <a:ext cx="417671" cy="53504"/>
          </a:xfrm>
          <a:custGeom>
            <a:avLst/>
            <a:gdLst/>
            <a:ahLst/>
            <a:cxnLst/>
            <a:rect l="l" t="t" r="r" b="b"/>
            <a:pathLst>
              <a:path w="417671" h="53504">
                <a:moveTo>
                  <a:pt x="417671" y="26753"/>
                </a:moveTo>
                <a:cubicBezTo>
                  <a:pt x="417671" y="11890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1890"/>
                  <a:pt x="0" y="26753"/>
                </a:cubicBezTo>
                <a:cubicBezTo>
                  <a:pt x="0" y="41614"/>
                  <a:pt x="11933" y="53504"/>
                  <a:pt x="26850" y="53504"/>
                </a:cubicBezTo>
                <a:cubicBezTo>
                  <a:pt x="390821" y="53504"/>
                  <a:pt x="390821" y="53504"/>
                  <a:pt x="390821" y="53504"/>
                </a:cubicBezTo>
                <a:cubicBezTo>
                  <a:pt x="405737" y="53504"/>
                  <a:pt x="417671" y="41614"/>
                  <a:pt x="417671" y="2675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FB3EA725-74B5-2254-4A32-9188761D2340}"/>
              </a:ext>
            </a:extLst>
          </p:cNvPr>
          <p:cNvSpPr/>
          <p:nvPr/>
        </p:nvSpPr>
        <p:spPr>
          <a:xfrm>
            <a:off x="4254500" y="3289300"/>
            <a:ext cx="366394" cy="389293"/>
          </a:xfrm>
          <a:custGeom>
            <a:avLst/>
            <a:gdLst/>
            <a:ahLst/>
            <a:cxnLst/>
            <a:rect l="l" t="t" r="r" b="b"/>
            <a:pathLst>
              <a:path w="366394" h="389293">
                <a:moveTo>
                  <a:pt x="308755" y="90150"/>
                </a:moveTo>
                <a:cubicBezTo>
                  <a:pt x="341696" y="118843"/>
                  <a:pt x="366394" y="163918"/>
                  <a:pt x="366394" y="217193"/>
                </a:cubicBezTo>
                <a:cubicBezTo>
                  <a:pt x="366394" y="258159"/>
                  <a:pt x="349923" y="299143"/>
                  <a:pt x="321104" y="327817"/>
                </a:cubicBezTo>
                <a:cubicBezTo>
                  <a:pt x="193493" y="217193"/>
                  <a:pt x="193493" y="217193"/>
                  <a:pt x="193493" y="217193"/>
                </a:cubicBezTo>
                <a:cubicBezTo>
                  <a:pt x="308755" y="90150"/>
                  <a:pt x="308755" y="90150"/>
                  <a:pt x="308755" y="90150"/>
                </a:cubicBezTo>
                <a:close/>
                <a:moveTo>
                  <a:pt x="312877" y="340126"/>
                </a:moveTo>
                <a:cubicBezTo>
                  <a:pt x="304650" y="348309"/>
                  <a:pt x="296407" y="356509"/>
                  <a:pt x="284057" y="360601"/>
                </a:cubicBezTo>
                <a:cubicBezTo>
                  <a:pt x="304650" y="331926"/>
                  <a:pt x="304650" y="331926"/>
                  <a:pt x="304650" y="331926"/>
                </a:cubicBezTo>
                <a:cubicBezTo>
                  <a:pt x="312877" y="340126"/>
                  <a:pt x="312877" y="340126"/>
                  <a:pt x="312877" y="340126"/>
                </a:cubicBezTo>
                <a:close/>
                <a:moveTo>
                  <a:pt x="263482" y="377002"/>
                </a:moveTo>
                <a:cubicBezTo>
                  <a:pt x="296407" y="323726"/>
                  <a:pt x="296407" y="323726"/>
                  <a:pt x="296407" y="323726"/>
                </a:cubicBezTo>
                <a:cubicBezTo>
                  <a:pt x="288180" y="315525"/>
                  <a:pt x="288180" y="315525"/>
                  <a:pt x="288180" y="315525"/>
                </a:cubicBezTo>
                <a:cubicBezTo>
                  <a:pt x="247011" y="385202"/>
                  <a:pt x="247011" y="385202"/>
                  <a:pt x="247011" y="385202"/>
                </a:cubicBezTo>
                <a:cubicBezTo>
                  <a:pt x="251116" y="381093"/>
                  <a:pt x="259359" y="377002"/>
                  <a:pt x="263482" y="377002"/>
                </a:cubicBezTo>
                <a:close/>
                <a:moveTo>
                  <a:pt x="238766" y="372910"/>
                </a:moveTo>
                <a:cubicBezTo>
                  <a:pt x="275830" y="307344"/>
                  <a:pt x="275830" y="307344"/>
                  <a:pt x="275830" y="307344"/>
                </a:cubicBezTo>
                <a:cubicBezTo>
                  <a:pt x="267586" y="303234"/>
                  <a:pt x="267586" y="303234"/>
                  <a:pt x="267586" y="303234"/>
                </a:cubicBezTo>
                <a:cubicBezTo>
                  <a:pt x="234662" y="360601"/>
                  <a:pt x="234662" y="360601"/>
                  <a:pt x="234662" y="360601"/>
                </a:cubicBezTo>
                <a:cubicBezTo>
                  <a:pt x="238766" y="372910"/>
                  <a:pt x="238766" y="372910"/>
                  <a:pt x="238766" y="372910"/>
                </a:cubicBezTo>
                <a:close/>
                <a:moveTo>
                  <a:pt x="230539" y="344218"/>
                </a:moveTo>
                <a:cubicBezTo>
                  <a:pt x="259359" y="295051"/>
                  <a:pt x="259359" y="295051"/>
                  <a:pt x="259359" y="295051"/>
                </a:cubicBezTo>
                <a:cubicBezTo>
                  <a:pt x="251116" y="286851"/>
                  <a:pt x="251116" y="286851"/>
                  <a:pt x="251116" y="286851"/>
                </a:cubicBezTo>
                <a:cubicBezTo>
                  <a:pt x="226418" y="331926"/>
                  <a:pt x="226418" y="331926"/>
                  <a:pt x="226418" y="331926"/>
                </a:cubicBezTo>
                <a:cubicBezTo>
                  <a:pt x="230539" y="344218"/>
                  <a:pt x="230539" y="344218"/>
                  <a:pt x="230539" y="344218"/>
                </a:cubicBezTo>
                <a:close/>
                <a:moveTo>
                  <a:pt x="218191" y="319635"/>
                </a:moveTo>
                <a:cubicBezTo>
                  <a:pt x="242889" y="278651"/>
                  <a:pt x="242889" y="278651"/>
                  <a:pt x="242889" y="278651"/>
                </a:cubicBezTo>
                <a:cubicBezTo>
                  <a:pt x="234662" y="270450"/>
                  <a:pt x="234662" y="270450"/>
                  <a:pt x="234662" y="270450"/>
                </a:cubicBezTo>
                <a:cubicBezTo>
                  <a:pt x="214069" y="307344"/>
                  <a:pt x="214069" y="307344"/>
                  <a:pt x="214069" y="307344"/>
                </a:cubicBezTo>
                <a:cubicBezTo>
                  <a:pt x="218191" y="319635"/>
                  <a:pt x="218191" y="319635"/>
                  <a:pt x="218191" y="319635"/>
                </a:cubicBezTo>
                <a:close/>
                <a:moveTo>
                  <a:pt x="209964" y="290943"/>
                </a:moveTo>
                <a:cubicBezTo>
                  <a:pt x="226418" y="262268"/>
                  <a:pt x="226418" y="262268"/>
                  <a:pt x="226418" y="262268"/>
                </a:cubicBezTo>
                <a:cubicBezTo>
                  <a:pt x="218191" y="254067"/>
                  <a:pt x="218191" y="254067"/>
                  <a:pt x="218191" y="254067"/>
                </a:cubicBezTo>
                <a:cubicBezTo>
                  <a:pt x="205842" y="278651"/>
                  <a:pt x="205842" y="278651"/>
                  <a:pt x="205842" y="278651"/>
                </a:cubicBezTo>
                <a:cubicBezTo>
                  <a:pt x="209964" y="290943"/>
                  <a:pt x="209964" y="290943"/>
                  <a:pt x="209964" y="290943"/>
                </a:cubicBezTo>
                <a:close/>
                <a:moveTo>
                  <a:pt x="197598" y="266360"/>
                </a:moveTo>
                <a:cubicBezTo>
                  <a:pt x="209964" y="249959"/>
                  <a:pt x="209964" y="249959"/>
                  <a:pt x="209964" y="249959"/>
                </a:cubicBezTo>
                <a:cubicBezTo>
                  <a:pt x="201720" y="241776"/>
                  <a:pt x="201720" y="241776"/>
                  <a:pt x="201720" y="241776"/>
                </a:cubicBezTo>
                <a:cubicBezTo>
                  <a:pt x="193493" y="249959"/>
                  <a:pt x="193493" y="249959"/>
                  <a:pt x="193493" y="249959"/>
                </a:cubicBezTo>
                <a:cubicBezTo>
                  <a:pt x="197598" y="266360"/>
                  <a:pt x="197598" y="266360"/>
                  <a:pt x="197598" y="266360"/>
                </a:cubicBezTo>
                <a:close/>
                <a:moveTo>
                  <a:pt x="189371" y="237667"/>
                </a:moveTo>
                <a:cubicBezTo>
                  <a:pt x="185250" y="225375"/>
                  <a:pt x="185250" y="225375"/>
                  <a:pt x="185250" y="225375"/>
                </a:cubicBezTo>
                <a:cubicBezTo>
                  <a:pt x="193493" y="233576"/>
                  <a:pt x="193493" y="233576"/>
                  <a:pt x="193493" y="233576"/>
                </a:cubicBezTo>
                <a:cubicBezTo>
                  <a:pt x="189371" y="237667"/>
                  <a:pt x="189371" y="237667"/>
                  <a:pt x="189371" y="237667"/>
                </a:cubicBezTo>
                <a:close/>
                <a:moveTo>
                  <a:pt x="242889" y="69658"/>
                </a:moveTo>
                <a:cubicBezTo>
                  <a:pt x="168796" y="221285"/>
                  <a:pt x="168796" y="221285"/>
                  <a:pt x="168796" y="221285"/>
                </a:cubicBezTo>
                <a:cubicBezTo>
                  <a:pt x="168796" y="221285"/>
                  <a:pt x="156430" y="114733"/>
                  <a:pt x="148203" y="53275"/>
                </a:cubicBezTo>
                <a:cubicBezTo>
                  <a:pt x="65866" y="61476"/>
                  <a:pt x="0" y="135226"/>
                  <a:pt x="0" y="221285"/>
                </a:cubicBezTo>
                <a:cubicBezTo>
                  <a:pt x="0" y="315525"/>
                  <a:pt x="74110" y="389293"/>
                  <a:pt x="168796" y="389293"/>
                </a:cubicBezTo>
                <a:cubicBezTo>
                  <a:pt x="189371" y="389293"/>
                  <a:pt x="209964" y="385202"/>
                  <a:pt x="226418" y="381093"/>
                </a:cubicBezTo>
                <a:cubicBezTo>
                  <a:pt x="168796" y="221285"/>
                  <a:pt x="168796" y="221285"/>
                  <a:pt x="168796" y="221285"/>
                </a:cubicBezTo>
                <a:cubicBezTo>
                  <a:pt x="279935" y="94242"/>
                  <a:pt x="279935" y="94242"/>
                  <a:pt x="279935" y="94242"/>
                </a:cubicBezTo>
                <a:cubicBezTo>
                  <a:pt x="271709" y="81949"/>
                  <a:pt x="259359" y="73768"/>
                  <a:pt x="242889" y="69658"/>
                </a:cubicBezTo>
                <a:close/>
                <a:moveTo>
                  <a:pt x="177023" y="0"/>
                </a:moveTo>
                <a:cubicBezTo>
                  <a:pt x="168796" y="0"/>
                  <a:pt x="164673" y="0"/>
                  <a:pt x="156430" y="0"/>
                </a:cubicBezTo>
                <a:cubicBezTo>
                  <a:pt x="164673" y="61476"/>
                  <a:pt x="177023" y="168008"/>
                  <a:pt x="177023" y="168008"/>
                </a:cubicBezTo>
                <a:cubicBezTo>
                  <a:pt x="251116" y="16383"/>
                  <a:pt x="251116" y="16383"/>
                  <a:pt x="251116" y="16383"/>
                </a:cubicBezTo>
                <a:cubicBezTo>
                  <a:pt x="230539" y="4091"/>
                  <a:pt x="201720" y="0"/>
                  <a:pt x="17702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881003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53432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25533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96112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5593409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55720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29871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5689653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399620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8931630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4209314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91226567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0151332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6028438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5995545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2525666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2525665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2537867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2540429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673448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2">
            <a:extLst>
              <a:ext uri="{FF2B5EF4-FFF2-40B4-BE49-F238E27FC236}">
                <a16:creationId xmlns:a16="http://schemas.microsoft.com/office/drawing/2014/main" id="{CF592A97-D7AB-C8C5-D43A-AA0C8FD11C32}"/>
              </a:ext>
            </a:extLst>
          </p:cNvPr>
          <p:cNvSpPr/>
          <p:nvPr/>
        </p:nvSpPr>
        <p:spPr>
          <a:xfrm flipV="1">
            <a:off x="2247900" y="2692400"/>
            <a:ext cx="1988643" cy="1584650"/>
          </a:xfrm>
          <a:custGeom>
            <a:avLst/>
            <a:gdLst/>
            <a:ahLst/>
            <a:cxnLst/>
            <a:rect l="l" t="t" r="r" b="b"/>
            <a:pathLst>
              <a:path w="1988643" h="1584650">
                <a:moveTo>
                  <a:pt x="0" y="0"/>
                </a:moveTo>
                <a:lnTo>
                  <a:pt x="15612" y="0"/>
                </a:lnTo>
                <a:lnTo>
                  <a:pt x="206530" y="69957"/>
                </a:lnTo>
                <a:cubicBezTo>
                  <a:pt x="403556" y="135701"/>
                  <a:pt x="608761" y="191383"/>
                  <a:pt x="820205" y="235353"/>
                </a:cubicBezTo>
                <a:cubicBezTo>
                  <a:pt x="1137374" y="301309"/>
                  <a:pt x="1446066" y="336232"/>
                  <a:pt x="1738956" y="342803"/>
                </a:cubicBezTo>
                <a:lnTo>
                  <a:pt x="1988643" y="340389"/>
                </a:lnTo>
                <a:lnTo>
                  <a:pt x="1988643" y="1244262"/>
                </a:lnTo>
                <a:lnTo>
                  <a:pt x="1738956" y="1241847"/>
                </a:lnTo>
                <a:cubicBezTo>
                  <a:pt x="1446066" y="1248419"/>
                  <a:pt x="1137374" y="1283343"/>
                  <a:pt x="820205" y="1349298"/>
                </a:cubicBezTo>
                <a:cubicBezTo>
                  <a:pt x="608761" y="1393269"/>
                  <a:pt x="403556" y="1448951"/>
                  <a:pt x="206530" y="1514695"/>
                </a:cubicBezTo>
                <a:lnTo>
                  <a:pt x="15615" y="1584650"/>
                </a:lnTo>
                <a:lnTo>
                  <a:pt x="0" y="1584650"/>
                </a:lnTo>
                <a:close/>
              </a:path>
            </a:pathLst>
          </a:custGeom>
          <a:gradFill rotWithShape="1">
            <a:gsLst>
              <a:gs pos="14000">
                <a:srgbClr val="009DD9">
                  <a:alpha val="0"/>
                </a:srgbClr>
              </a:gs>
              <a:gs pos="100000">
                <a:srgbClr val="009DD9">
                  <a:alpha val="18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9662440-0A5B-AB07-961D-01EBEC144AFD}"/>
              </a:ext>
            </a:extLst>
          </p:cNvPr>
          <p:cNvSpPr/>
          <p:nvPr/>
        </p:nvSpPr>
        <p:spPr>
          <a:xfrm flipV="1">
            <a:off x="2768600" y="39370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9CBA84F5-8704-3E5B-E294-7E5E6203A430}"/>
              </a:ext>
            </a:extLst>
          </p:cNvPr>
          <p:cNvSpPr/>
          <p:nvPr/>
        </p:nvSpPr>
        <p:spPr>
          <a:xfrm flipV="1">
            <a:off x="3949700" y="39370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8229EA79-F253-68E1-2784-A711E6727F64}"/>
              </a:ext>
            </a:extLst>
          </p:cNvPr>
          <p:cNvSpPr/>
          <p:nvPr/>
        </p:nvSpPr>
        <p:spPr>
          <a:xfrm>
            <a:off x="2768600" y="28575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6">
            <a:extLst>
              <a:ext uri="{FF2B5EF4-FFF2-40B4-BE49-F238E27FC236}">
                <a16:creationId xmlns:a16="http://schemas.microsoft.com/office/drawing/2014/main" id="{E30811D6-CE8A-4FED-9B6A-53BA68A83E1A}"/>
              </a:ext>
            </a:extLst>
          </p:cNvPr>
          <p:cNvSpPr/>
          <p:nvPr/>
        </p:nvSpPr>
        <p:spPr>
          <a:xfrm>
            <a:off x="3949700" y="29972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E4957663-A4AE-AF4C-276E-9A9711191270}"/>
              </a:ext>
            </a:extLst>
          </p:cNvPr>
          <p:cNvSpPr/>
          <p:nvPr/>
        </p:nvSpPr>
        <p:spPr>
          <a:xfrm>
            <a:off x="1104900" y="2622717"/>
            <a:ext cx="1663700" cy="1663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8">
            <a:extLst>
              <a:ext uri="{FF2B5EF4-FFF2-40B4-BE49-F238E27FC236}">
                <a16:creationId xmlns:a16="http://schemas.microsoft.com/office/drawing/2014/main" id="{22F6AB51-8E2E-6B02-14C8-CB9971561DCF}"/>
              </a:ext>
            </a:extLst>
          </p:cNvPr>
          <p:cNvCxnSpPr/>
          <p:nvPr/>
        </p:nvCxnSpPr>
        <p:spPr>
          <a:xfrm rot="3">
            <a:off x="28575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0" name="AutoShape 19">
            <a:extLst>
              <a:ext uri="{FF2B5EF4-FFF2-40B4-BE49-F238E27FC236}">
                <a16:creationId xmlns:a16="http://schemas.microsoft.com/office/drawing/2014/main" id="{4B8764D4-8F75-DE49-ABA5-27FC02CBDAFE}"/>
              </a:ext>
            </a:extLst>
          </p:cNvPr>
          <p:cNvSpPr/>
          <p:nvPr/>
        </p:nvSpPr>
        <p:spPr>
          <a:xfrm>
            <a:off x="3924300" y="2971800"/>
            <a:ext cx="1028700" cy="1028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1" name="Connector 20">
            <a:extLst>
              <a:ext uri="{FF2B5EF4-FFF2-40B4-BE49-F238E27FC236}">
                <a16:creationId xmlns:a16="http://schemas.microsoft.com/office/drawing/2014/main" id="{1E9472CD-A1B0-8AA2-B603-253C322A9E74}"/>
              </a:ext>
            </a:extLst>
          </p:cNvPr>
          <p:cNvCxnSpPr/>
          <p:nvPr/>
        </p:nvCxnSpPr>
        <p:spPr>
          <a:xfrm rot="2686695">
            <a:off x="4910715" y="401958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2" name="Connector 21">
            <a:extLst>
              <a:ext uri="{FF2B5EF4-FFF2-40B4-BE49-F238E27FC236}">
                <a16:creationId xmlns:a16="http://schemas.microsoft.com/office/drawing/2014/main" id="{8E8F842B-AE6F-B5D0-F146-6D69B9414423}"/>
              </a:ext>
            </a:extLst>
          </p:cNvPr>
          <p:cNvCxnSpPr/>
          <p:nvPr/>
        </p:nvCxnSpPr>
        <p:spPr>
          <a:xfrm rot="-2777559">
            <a:off x="4910715" y="295272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3" name="Connector 22">
            <a:extLst>
              <a:ext uri="{FF2B5EF4-FFF2-40B4-BE49-F238E27FC236}">
                <a16:creationId xmlns:a16="http://schemas.microsoft.com/office/drawing/2014/main" id="{D82605B7-70EA-0A5E-E02D-09395ED82F3D}"/>
              </a:ext>
            </a:extLst>
          </p:cNvPr>
          <p:cNvCxnSpPr/>
          <p:nvPr/>
        </p:nvCxnSpPr>
        <p:spPr>
          <a:xfrm rot="3">
            <a:off x="49149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4" name="Freeform 23">
            <a:extLst>
              <a:ext uri="{FF2B5EF4-FFF2-40B4-BE49-F238E27FC236}">
                <a16:creationId xmlns:a16="http://schemas.microsoft.com/office/drawing/2014/main" id="{99D7602F-7C29-2E5D-6EC9-DFD1CFA12DE6}"/>
              </a:ext>
            </a:extLst>
          </p:cNvPr>
          <p:cNvSpPr/>
          <p:nvPr/>
        </p:nvSpPr>
        <p:spPr>
          <a:xfrm>
            <a:off x="1511300" y="3352800"/>
            <a:ext cx="826714" cy="474627"/>
          </a:xfrm>
          <a:custGeom>
            <a:avLst/>
            <a:gdLst/>
            <a:ahLst/>
            <a:cxnLst/>
            <a:rect l="l" t="t" r="r" b="b"/>
            <a:pathLst>
              <a:path w="826714" h="474627">
                <a:moveTo>
                  <a:pt x="724886" y="70763"/>
                </a:moveTo>
                <a:lnTo>
                  <a:pt x="414219" y="291680"/>
                </a:lnTo>
                <a:lnTo>
                  <a:pt x="101829" y="70763"/>
                </a:lnTo>
                <a:lnTo>
                  <a:pt x="0" y="0"/>
                </a:lnTo>
                <a:lnTo>
                  <a:pt x="0" y="474627"/>
                </a:lnTo>
                <a:lnTo>
                  <a:pt x="826714" y="474627"/>
                </a:lnTo>
                <a:lnTo>
                  <a:pt x="826714" y="0"/>
                </a:lnTo>
                <a:lnTo>
                  <a:pt x="724886" y="7076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056E914F-9C96-5CFB-6446-F94D55A16602}"/>
              </a:ext>
            </a:extLst>
          </p:cNvPr>
          <p:cNvSpPr/>
          <p:nvPr/>
        </p:nvSpPr>
        <p:spPr>
          <a:xfrm>
            <a:off x="1600200" y="3136900"/>
            <a:ext cx="671382" cy="476353"/>
          </a:xfrm>
          <a:custGeom>
            <a:avLst/>
            <a:gdLst/>
            <a:ahLst/>
            <a:cxnLst/>
            <a:rect l="l" t="t" r="r" b="b"/>
            <a:pathLst>
              <a:path w="671382" h="476353">
                <a:moveTo>
                  <a:pt x="8952" y="248662"/>
                </a:moveTo>
                <a:cubicBezTo>
                  <a:pt x="322264" y="470361"/>
                  <a:pt x="322264" y="470361"/>
                  <a:pt x="322264" y="470361"/>
                </a:cubicBezTo>
                <a:cubicBezTo>
                  <a:pt x="325247" y="473357"/>
                  <a:pt x="331215" y="476353"/>
                  <a:pt x="337182" y="476353"/>
                </a:cubicBezTo>
                <a:cubicBezTo>
                  <a:pt x="340167" y="476353"/>
                  <a:pt x="346135" y="473357"/>
                  <a:pt x="349119" y="470361"/>
                </a:cubicBezTo>
                <a:cubicBezTo>
                  <a:pt x="662431" y="248662"/>
                  <a:pt x="662431" y="248662"/>
                  <a:pt x="662431" y="248662"/>
                </a:cubicBezTo>
                <a:cubicBezTo>
                  <a:pt x="668398" y="242670"/>
                  <a:pt x="671382" y="236678"/>
                  <a:pt x="671382" y="227691"/>
                </a:cubicBezTo>
                <a:cubicBezTo>
                  <a:pt x="671382" y="23967"/>
                  <a:pt x="671382" y="23967"/>
                  <a:pt x="671382" y="23967"/>
                </a:cubicBezTo>
                <a:cubicBezTo>
                  <a:pt x="671382" y="8988"/>
                  <a:pt x="659446" y="0"/>
                  <a:pt x="647511" y="0"/>
                </a:cubicBezTo>
                <a:cubicBezTo>
                  <a:pt x="23871" y="0"/>
                  <a:pt x="23871" y="0"/>
                  <a:pt x="23871" y="0"/>
                </a:cubicBezTo>
                <a:cubicBezTo>
                  <a:pt x="11935" y="0"/>
                  <a:pt x="0" y="8988"/>
                  <a:pt x="0" y="23967"/>
                </a:cubicBezTo>
                <a:cubicBezTo>
                  <a:pt x="0" y="227691"/>
                  <a:pt x="0" y="227691"/>
                  <a:pt x="0" y="227691"/>
                </a:cubicBezTo>
                <a:cubicBezTo>
                  <a:pt x="0" y="236678"/>
                  <a:pt x="2984" y="242670"/>
                  <a:pt x="8952" y="248662"/>
                </a:cubicBezTo>
                <a:close/>
                <a:moveTo>
                  <a:pt x="47743" y="47935"/>
                </a:moveTo>
                <a:cubicBezTo>
                  <a:pt x="623640" y="47935"/>
                  <a:pt x="623640" y="47935"/>
                  <a:pt x="623640" y="47935"/>
                </a:cubicBezTo>
                <a:cubicBezTo>
                  <a:pt x="623640" y="215707"/>
                  <a:pt x="623640" y="215707"/>
                  <a:pt x="623640" y="215707"/>
                </a:cubicBezTo>
                <a:cubicBezTo>
                  <a:pt x="337182" y="422426"/>
                  <a:pt x="337182" y="422426"/>
                  <a:pt x="337182" y="422426"/>
                </a:cubicBezTo>
                <a:cubicBezTo>
                  <a:pt x="47743" y="215707"/>
                  <a:pt x="47743" y="215707"/>
                  <a:pt x="47743" y="215707"/>
                </a:cubicBezTo>
                <a:lnTo>
                  <a:pt x="47743" y="4793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C4E73E7B-3582-FC1F-14B0-1F02E9BE5F52}"/>
              </a:ext>
            </a:extLst>
          </p:cNvPr>
          <p:cNvSpPr/>
          <p:nvPr/>
        </p:nvSpPr>
        <p:spPr>
          <a:xfrm>
            <a:off x="1714500" y="3238500"/>
            <a:ext cx="417671" cy="55228"/>
          </a:xfrm>
          <a:custGeom>
            <a:avLst/>
            <a:gdLst/>
            <a:ahLst/>
            <a:cxnLst/>
            <a:rect l="l" t="t" r="r" b="b"/>
            <a:pathLst>
              <a:path w="417671" h="55228">
                <a:moveTo>
                  <a:pt x="26850" y="55228"/>
                </a:moveTo>
                <a:cubicBezTo>
                  <a:pt x="390821" y="55228"/>
                  <a:pt x="390821" y="55228"/>
                  <a:pt x="390821" y="55228"/>
                </a:cubicBezTo>
                <a:cubicBezTo>
                  <a:pt x="405737" y="55228"/>
                  <a:pt x="417671" y="42956"/>
                  <a:pt x="417671" y="27615"/>
                </a:cubicBezTo>
                <a:cubicBezTo>
                  <a:pt x="417671" y="12273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2273"/>
                  <a:pt x="0" y="27615"/>
                </a:cubicBezTo>
                <a:cubicBezTo>
                  <a:pt x="0" y="42956"/>
                  <a:pt x="11933" y="55228"/>
                  <a:pt x="26850" y="552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7D4FAC02-FEAB-31EE-CAC3-64A1B99A9115}"/>
              </a:ext>
            </a:extLst>
          </p:cNvPr>
          <p:cNvSpPr/>
          <p:nvPr/>
        </p:nvSpPr>
        <p:spPr>
          <a:xfrm>
            <a:off x="1714500" y="3327400"/>
            <a:ext cx="417671" cy="53504"/>
          </a:xfrm>
          <a:custGeom>
            <a:avLst/>
            <a:gdLst/>
            <a:ahLst/>
            <a:cxnLst/>
            <a:rect l="l" t="t" r="r" b="b"/>
            <a:pathLst>
              <a:path w="417671" h="53504">
                <a:moveTo>
                  <a:pt x="417671" y="26753"/>
                </a:moveTo>
                <a:cubicBezTo>
                  <a:pt x="417671" y="11890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1890"/>
                  <a:pt x="0" y="26753"/>
                </a:cubicBezTo>
                <a:cubicBezTo>
                  <a:pt x="0" y="41614"/>
                  <a:pt x="11933" y="53504"/>
                  <a:pt x="26850" y="53504"/>
                </a:cubicBezTo>
                <a:cubicBezTo>
                  <a:pt x="390821" y="53504"/>
                  <a:pt x="390821" y="53504"/>
                  <a:pt x="390821" y="53504"/>
                </a:cubicBezTo>
                <a:cubicBezTo>
                  <a:pt x="405737" y="53504"/>
                  <a:pt x="417671" y="41614"/>
                  <a:pt x="417671" y="2675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FB3EA725-74B5-2254-4A32-9188761D2340}"/>
              </a:ext>
            </a:extLst>
          </p:cNvPr>
          <p:cNvSpPr/>
          <p:nvPr/>
        </p:nvSpPr>
        <p:spPr>
          <a:xfrm>
            <a:off x="4254500" y="3289300"/>
            <a:ext cx="366394" cy="389293"/>
          </a:xfrm>
          <a:custGeom>
            <a:avLst/>
            <a:gdLst/>
            <a:ahLst/>
            <a:cxnLst/>
            <a:rect l="l" t="t" r="r" b="b"/>
            <a:pathLst>
              <a:path w="366394" h="389293">
                <a:moveTo>
                  <a:pt x="308755" y="90150"/>
                </a:moveTo>
                <a:cubicBezTo>
                  <a:pt x="341696" y="118843"/>
                  <a:pt x="366394" y="163918"/>
                  <a:pt x="366394" y="217193"/>
                </a:cubicBezTo>
                <a:cubicBezTo>
                  <a:pt x="366394" y="258159"/>
                  <a:pt x="349923" y="299143"/>
                  <a:pt x="321104" y="327817"/>
                </a:cubicBezTo>
                <a:cubicBezTo>
                  <a:pt x="193493" y="217193"/>
                  <a:pt x="193493" y="217193"/>
                  <a:pt x="193493" y="217193"/>
                </a:cubicBezTo>
                <a:cubicBezTo>
                  <a:pt x="308755" y="90150"/>
                  <a:pt x="308755" y="90150"/>
                  <a:pt x="308755" y="90150"/>
                </a:cubicBezTo>
                <a:close/>
                <a:moveTo>
                  <a:pt x="312877" y="340126"/>
                </a:moveTo>
                <a:cubicBezTo>
                  <a:pt x="304650" y="348309"/>
                  <a:pt x="296407" y="356509"/>
                  <a:pt x="284057" y="360601"/>
                </a:cubicBezTo>
                <a:cubicBezTo>
                  <a:pt x="304650" y="331926"/>
                  <a:pt x="304650" y="331926"/>
                  <a:pt x="304650" y="331926"/>
                </a:cubicBezTo>
                <a:cubicBezTo>
                  <a:pt x="312877" y="340126"/>
                  <a:pt x="312877" y="340126"/>
                  <a:pt x="312877" y="340126"/>
                </a:cubicBezTo>
                <a:close/>
                <a:moveTo>
                  <a:pt x="263482" y="377002"/>
                </a:moveTo>
                <a:cubicBezTo>
                  <a:pt x="296407" y="323726"/>
                  <a:pt x="296407" y="323726"/>
                  <a:pt x="296407" y="323726"/>
                </a:cubicBezTo>
                <a:cubicBezTo>
                  <a:pt x="288180" y="315525"/>
                  <a:pt x="288180" y="315525"/>
                  <a:pt x="288180" y="315525"/>
                </a:cubicBezTo>
                <a:cubicBezTo>
                  <a:pt x="247011" y="385202"/>
                  <a:pt x="247011" y="385202"/>
                  <a:pt x="247011" y="385202"/>
                </a:cubicBezTo>
                <a:cubicBezTo>
                  <a:pt x="251116" y="381093"/>
                  <a:pt x="259359" y="377002"/>
                  <a:pt x="263482" y="377002"/>
                </a:cubicBezTo>
                <a:close/>
                <a:moveTo>
                  <a:pt x="238766" y="372910"/>
                </a:moveTo>
                <a:cubicBezTo>
                  <a:pt x="275830" y="307344"/>
                  <a:pt x="275830" y="307344"/>
                  <a:pt x="275830" y="307344"/>
                </a:cubicBezTo>
                <a:cubicBezTo>
                  <a:pt x="267586" y="303234"/>
                  <a:pt x="267586" y="303234"/>
                  <a:pt x="267586" y="303234"/>
                </a:cubicBezTo>
                <a:cubicBezTo>
                  <a:pt x="234662" y="360601"/>
                  <a:pt x="234662" y="360601"/>
                  <a:pt x="234662" y="360601"/>
                </a:cubicBezTo>
                <a:cubicBezTo>
                  <a:pt x="238766" y="372910"/>
                  <a:pt x="238766" y="372910"/>
                  <a:pt x="238766" y="372910"/>
                </a:cubicBezTo>
                <a:close/>
                <a:moveTo>
                  <a:pt x="230539" y="344218"/>
                </a:moveTo>
                <a:cubicBezTo>
                  <a:pt x="259359" y="295051"/>
                  <a:pt x="259359" y="295051"/>
                  <a:pt x="259359" y="295051"/>
                </a:cubicBezTo>
                <a:cubicBezTo>
                  <a:pt x="251116" y="286851"/>
                  <a:pt x="251116" y="286851"/>
                  <a:pt x="251116" y="286851"/>
                </a:cubicBezTo>
                <a:cubicBezTo>
                  <a:pt x="226418" y="331926"/>
                  <a:pt x="226418" y="331926"/>
                  <a:pt x="226418" y="331926"/>
                </a:cubicBezTo>
                <a:cubicBezTo>
                  <a:pt x="230539" y="344218"/>
                  <a:pt x="230539" y="344218"/>
                  <a:pt x="230539" y="344218"/>
                </a:cubicBezTo>
                <a:close/>
                <a:moveTo>
                  <a:pt x="218191" y="319635"/>
                </a:moveTo>
                <a:cubicBezTo>
                  <a:pt x="242889" y="278651"/>
                  <a:pt x="242889" y="278651"/>
                  <a:pt x="242889" y="278651"/>
                </a:cubicBezTo>
                <a:cubicBezTo>
                  <a:pt x="234662" y="270450"/>
                  <a:pt x="234662" y="270450"/>
                  <a:pt x="234662" y="270450"/>
                </a:cubicBezTo>
                <a:cubicBezTo>
                  <a:pt x="214069" y="307344"/>
                  <a:pt x="214069" y="307344"/>
                  <a:pt x="214069" y="307344"/>
                </a:cubicBezTo>
                <a:cubicBezTo>
                  <a:pt x="218191" y="319635"/>
                  <a:pt x="218191" y="319635"/>
                  <a:pt x="218191" y="319635"/>
                </a:cubicBezTo>
                <a:close/>
                <a:moveTo>
                  <a:pt x="209964" y="290943"/>
                </a:moveTo>
                <a:cubicBezTo>
                  <a:pt x="226418" y="262268"/>
                  <a:pt x="226418" y="262268"/>
                  <a:pt x="226418" y="262268"/>
                </a:cubicBezTo>
                <a:cubicBezTo>
                  <a:pt x="218191" y="254067"/>
                  <a:pt x="218191" y="254067"/>
                  <a:pt x="218191" y="254067"/>
                </a:cubicBezTo>
                <a:cubicBezTo>
                  <a:pt x="205842" y="278651"/>
                  <a:pt x="205842" y="278651"/>
                  <a:pt x="205842" y="278651"/>
                </a:cubicBezTo>
                <a:cubicBezTo>
                  <a:pt x="209964" y="290943"/>
                  <a:pt x="209964" y="290943"/>
                  <a:pt x="209964" y="290943"/>
                </a:cubicBezTo>
                <a:close/>
                <a:moveTo>
                  <a:pt x="197598" y="266360"/>
                </a:moveTo>
                <a:cubicBezTo>
                  <a:pt x="209964" y="249959"/>
                  <a:pt x="209964" y="249959"/>
                  <a:pt x="209964" y="249959"/>
                </a:cubicBezTo>
                <a:cubicBezTo>
                  <a:pt x="201720" y="241776"/>
                  <a:pt x="201720" y="241776"/>
                  <a:pt x="201720" y="241776"/>
                </a:cubicBezTo>
                <a:cubicBezTo>
                  <a:pt x="193493" y="249959"/>
                  <a:pt x="193493" y="249959"/>
                  <a:pt x="193493" y="249959"/>
                </a:cubicBezTo>
                <a:cubicBezTo>
                  <a:pt x="197598" y="266360"/>
                  <a:pt x="197598" y="266360"/>
                  <a:pt x="197598" y="266360"/>
                </a:cubicBezTo>
                <a:close/>
                <a:moveTo>
                  <a:pt x="189371" y="237667"/>
                </a:moveTo>
                <a:cubicBezTo>
                  <a:pt x="185250" y="225375"/>
                  <a:pt x="185250" y="225375"/>
                  <a:pt x="185250" y="225375"/>
                </a:cubicBezTo>
                <a:cubicBezTo>
                  <a:pt x="193493" y="233576"/>
                  <a:pt x="193493" y="233576"/>
                  <a:pt x="193493" y="233576"/>
                </a:cubicBezTo>
                <a:cubicBezTo>
                  <a:pt x="189371" y="237667"/>
                  <a:pt x="189371" y="237667"/>
                  <a:pt x="189371" y="237667"/>
                </a:cubicBezTo>
                <a:close/>
                <a:moveTo>
                  <a:pt x="242889" y="69658"/>
                </a:moveTo>
                <a:cubicBezTo>
                  <a:pt x="168796" y="221285"/>
                  <a:pt x="168796" y="221285"/>
                  <a:pt x="168796" y="221285"/>
                </a:cubicBezTo>
                <a:cubicBezTo>
                  <a:pt x="168796" y="221285"/>
                  <a:pt x="156430" y="114733"/>
                  <a:pt x="148203" y="53275"/>
                </a:cubicBezTo>
                <a:cubicBezTo>
                  <a:pt x="65866" y="61476"/>
                  <a:pt x="0" y="135226"/>
                  <a:pt x="0" y="221285"/>
                </a:cubicBezTo>
                <a:cubicBezTo>
                  <a:pt x="0" y="315525"/>
                  <a:pt x="74110" y="389293"/>
                  <a:pt x="168796" y="389293"/>
                </a:cubicBezTo>
                <a:cubicBezTo>
                  <a:pt x="189371" y="389293"/>
                  <a:pt x="209964" y="385202"/>
                  <a:pt x="226418" y="381093"/>
                </a:cubicBezTo>
                <a:cubicBezTo>
                  <a:pt x="168796" y="221285"/>
                  <a:pt x="168796" y="221285"/>
                  <a:pt x="168796" y="221285"/>
                </a:cubicBezTo>
                <a:cubicBezTo>
                  <a:pt x="279935" y="94242"/>
                  <a:pt x="279935" y="94242"/>
                  <a:pt x="279935" y="94242"/>
                </a:cubicBezTo>
                <a:cubicBezTo>
                  <a:pt x="271709" y="81949"/>
                  <a:pt x="259359" y="73768"/>
                  <a:pt x="242889" y="69658"/>
                </a:cubicBezTo>
                <a:close/>
                <a:moveTo>
                  <a:pt x="177023" y="0"/>
                </a:moveTo>
                <a:cubicBezTo>
                  <a:pt x="168796" y="0"/>
                  <a:pt x="164673" y="0"/>
                  <a:pt x="156430" y="0"/>
                </a:cubicBezTo>
                <a:cubicBezTo>
                  <a:pt x="164673" y="61476"/>
                  <a:pt x="177023" y="168008"/>
                  <a:pt x="177023" y="168008"/>
                </a:cubicBezTo>
                <a:cubicBezTo>
                  <a:pt x="251116" y="16383"/>
                  <a:pt x="251116" y="16383"/>
                  <a:pt x="251116" y="16383"/>
                </a:cubicBezTo>
                <a:cubicBezTo>
                  <a:pt x="230539" y="4091"/>
                  <a:pt x="201720" y="0"/>
                  <a:pt x="17702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91719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FA5AAFB-1BBB-38C4-F23B-6B47AFD58A23}"/>
              </a:ext>
            </a:extLst>
          </p:cNvPr>
          <p:cNvGrpSpPr/>
          <p:nvPr/>
        </p:nvGrpSpPr>
        <p:grpSpPr>
          <a:xfrm flipV="1">
            <a:off x="2247000" y="2689220"/>
            <a:ext cx="1988644" cy="1584650"/>
            <a:chOff x="3723146" y="2809761"/>
            <a:chExt cx="2536249" cy="2021009"/>
          </a:xfrm>
        </p:grpSpPr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E9ACED5A-E499-F312-E0D7-8F08E1E5858D}"/>
                </a:ext>
              </a:extLst>
            </p:cNvPr>
            <p:cNvSpPr/>
            <p:nvPr/>
          </p:nvSpPr>
          <p:spPr>
            <a:xfrm>
              <a:off x="3723146" y="2809761"/>
              <a:ext cx="2536249" cy="2021009"/>
            </a:xfrm>
            <a:custGeom>
              <a:avLst/>
              <a:gdLst>
                <a:gd name="connsiteX0" fmla="*/ 0 w 3712582"/>
                <a:gd name="connsiteY0" fmla="*/ 0 h 2021009"/>
                <a:gd name="connsiteX1" fmla="*/ 29147 w 3712582"/>
                <a:gd name="connsiteY1" fmla="*/ 0 h 2021009"/>
                <a:gd name="connsiteX2" fmla="*/ 385568 w 3712582"/>
                <a:gd name="connsiteY2" fmla="*/ 89220 h 2021009"/>
                <a:gd name="connsiteX3" fmla="*/ 1531235 w 3712582"/>
                <a:gd name="connsiteY3" fmla="*/ 300161 h 2021009"/>
                <a:gd name="connsiteX4" fmla="*/ 3246442 w 3712582"/>
                <a:gd name="connsiteY4" fmla="*/ 437200 h 2021009"/>
                <a:gd name="connsiteX5" fmla="*/ 3712582 w 3712582"/>
                <a:gd name="connsiteY5" fmla="*/ 434121 h 2021009"/>
                <a:gd name="connsiteX6" fmla="*/ 3712582 w 3712582"/>
                <a:gd name="connsiteY6" fmla="*/ 1586890 h 2021009"/>
                <a:gd name="connsiteX7" fmla="*/ 3246442 w 3712582"/>
                <a:gd name="connsiteY7" fmla="*/ 1583810 h 2021009"/>
                <a:gd name="connsiteX8" fmla="*/ 1531235 w 3712582"/>
                <a:gd name="connsiteY8" fmla="*/ 1720849 h 2021009"/>
                <a:gd name="connsiteX9" fmla="*/ 385568 w 3712582"/>
                <a:gd name="connsiteY9" fmla="*/ 1931791 h 2021009"/>
                <a:gd name="connsiteX10" fmla="*/ 29151 w 3712582"/>
                <a:gd name="connsiteY10" fmla="*/ 2021009 h 2021009"/>
                <a:gd name="connsiteX11" fmla="*/ 0 w 3712582"/>
                <a:gd name="connsiteY11" fmla="*/ 2021009 h 202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12582" h="2021009">
                  <a:moveTo>
                    <a:pt x="0" y="0"/>
                  </a:moveTo>
                  <a:lnTo>
                    <a:pt x="29147" y="0"/>
                  </a:lnTo>
                  <a:lnTo>
                    <a:pt x="385568" y="89220"/>
                  </a:lnTo>
                  <a:cubicBezTo>
                    <a:pt x="753397" y="173068"/>
                    <a:pt x="1136489" y="244083"/>
                    <a:pt x="1531235" y="300161"/>
                  </a:cubicBezTo>
                  <a:cubicBezTo>
                    <a:pt x="2123353" y="384279"/>
                    <a:pt x="2699649" y="428819"/>
                    <a:pt x="3246442" y="437200"/>
                  </a:cubicBezTo>
                  <a:lnTo>
                    <a:pt x="3712582" y="434121"/>
                  </a:lnTo>
                  <a:lnTo>
                    <a:pt x="3712582" y="1586890"/>
                  </a:lnTo>
                  <a:lnTo>
                    <a:pt x="3246442" y="1583810"/>
                  </a:lnTo>
                  <a:cubicBezTo>
                    <a:pt x="2699649" y="1592192"/>
                    <a:pt x="2123353" y="1636732"/>
                    <a:pt x="1531235" y="1720849"/>
                  </a:cubicBezTo>
                  <a:cubicBezTo>
                    <a:pt x="1136489" y="1776928"/>
                    <a:pt x="753397" y="1847943"/>
                    <a:pt x="385568" y="1931791"/>
                  </a:cubicBezTo>
                  <a:lnTo>
                    <a:pt x="29151" y="2021009"/>
                  </a:lnTo>
                  <a:lnTo>
                    <a:pt x="0" y="2021009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2">
                    <a:alpha val="18000"/>
                  </a:schemeClr>
                </a:gs>
                <a:gs pos="14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E3D0743-45F8-5348-164E-D965309DA89E}"/>
                </a:ext>
              </a:extLst>
            </p:cNvPr>
            <p:cNvGrpSpPr/>
            <p:nvPr/>
          </p:nvGrpSpPr>
          <p:grpSpPr>
            <a:xfrm>
              <a:off x="4380811" y="3017211"/>
              <a:ext cx="1577751" cy="229749"/>
              <a:chOff x="8011855" y="4038291"/>
              <a:chExt cx="1577751" cy="229749"/>
            </a:xfrm>
          </p:grpSpPr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D7C08FEE-E576-B02D-DE9F-E2CFA74C6527}"/>
                  </a:ext>
                </a:extLst>
              </p:cNvPr>
              <p:cNvSpPr/>
              <p:nvPr/>
            </p:nvSpPr>
            <p:spPr>
              <a:xfrm>
                <a:off x="8011855" y="4038291"/>
                <a:ext cx="1577751" cy="229749"/>
              </a:xfrm>
              <a:custGeom>
                <a:avLst/>
                <a:gdLst>
                  <a:gd name="connsiteX0" fmla="*/ 0 w 1577751"/>
                  <a:gd name="connsiteY0" fmla="*/ 0 h 1606110"/>
                  <a:gd name="connsiteX1" fmla="*/ 388398 w 1577751"/>
                  <a:gd name="connsiteY1" fmla="*/ 92710 h 1606110"/>
                  <a:gd name="connsiteX2" fmla="*/ 1560141 w 1577751"/>
                  <a:gd name="connsiteY2" fmla="*/ 229749 h 1606110"/>
                  <a:gd name="connsiteX3" fmla="*/ 1577751 w 1577751"/>
                  <a:gd name="connsiteY3" fmla="*/ 229579 h 1606110"/>
                  <a:gd name="connsiteX4" fmla="*/ 1577751 w 1577751"/>
                  <a:gd name="connsiteY4" fmla="*/ 1376530 h 1606110"/>
                  <a:gd name="connsiteX5" fmla="*/ 1560141 w 1577751"/>
                  <a:gd name="connsiteY5" fmla="*/ 1376359 h 1606110"/>
                  <a:gd name="connsiteX6" fmla="*/ 388398 w 1577751"/>
                  <a:gd name="connsiteY6" fmla="*/ 1513398 h 1606110"/>
                  <a:gd name="connsiteX7" fmla="*/ 0 w 1577751"/>
                  <a:gd name="connsiteY7" fmla="*/ 1606110 h 1606110"/>
                  <a:gd name="connsiteX0-1" fmla="*/ 388398 w 1577751"/>
                  <a:gd name="connsiteY0-2" fmla="*/ 1513398 h 1606110"/>
                  <a:gd name="connsiteX1-3" fmla="*/ 0 w 1577751"/>
                  <a:gd name="connsiteY1-4" fmla="*/ 1606110 h 1606110"/>
                  <a:gd name="connsiteX2-5" fmla="*/ 0 w 1577751"/>
                  <a:gd name="connsiteY2-6" fmla="*/ 0 h 1606110"/>
                  <a:gd name="connsiteX3-7" fmla="*/ 388398 w 1577751"/>
                  <a:gd name="connsiteY3-8" fmla="*/ 92710 h 1606110"/>
                  <a:gd name="connsiteX4-9" fmla="*/ 1560141 w 1577751"/>
                  <a:gd name="connsiteY4-10" fmla="*/ 229749 h 1606110"/>
                  <a:gd name="connsiteX5-11" fmla="*/ 1577751 w 1577751"/>
                  <a:gd name="connsiteY5-12" fmla="*/ 229579 h 1606110"/>
                  <a:gd name="connsiteX6-13" fmla="*/ 1577751 w 1577751"/>
                  <a:gd name="connsiteY6-14" fmla="*/ 1376530 h 1606110"/>
                  <a:gd name="connsiteX7-15" fmla="*/ 1560141 w 1577751"/>
                  <a:gd name="connsiteY7-16" fmla="*/ 1376359 h 1606110"/>
                  <a:gd name="connsiteX8" fmla="*/ 479838 w 1577751"/>
                  <a:gd name="connsiteY8" fmla="*/ 1604838 h 1606110"/>
                  <a:gd name="connsiteX0-17" fmla="*/ 388398 w 1577751"/>
                  <a:gd name="connsiteY0-18" fmla="*/ 1513398 h 1606110"/>
                  <a:gd name="connsiteX1-19" fmla="*/ 0 w 1577751"/>
                  <a:gd name="connsiteY1-20" fmla="*/ 1606110 h 1606110"/>
                  <a:gd name="connsiteX2-21" fmla="*/ 0 w 1577751"/>
                  <a:gd name="connsiteY2-22" fmla="*/ 0 h 1606110"/>
                  <a:gd name="connsiteX3-23" fmla="*/ 388398 w 1577751"/>
                  <a:gd name="connsiteY3-24" fmla="*/ 92710 h 1606110"/>
                  <a:gd name="connsiteX4-25" fmla="*/ 1560141 w 1577751"/>
                  <a:gd name="connsiteY4-26" fmla="*/ 229749 h 1606110"/>
                  <a:gd name="connsiteX5-27" fmla="*/ 1577751 w 1577751"/>
                  <a:gd name="connsiteY5-28" fmla="*/ 229579 h 1606110"/>
                  <a:gd name="connsiteX6-29" fmla="*/ 1577751 w 1577751"/>
                  <a:gd name="connsiteY6-30" fmla="*/ 1376530 h 1606110"/>
                  <a:gd name="connsiteX7-31" fmla="*/ 1560141 w 1577751"/>
                  <a:gd name="connsiteY7-32" fmla="*/ 1376359 h 1606110"/>
                  <a:gd name="connsiteX0-33" fmla="*/ 388398 w 1577751"/>
                  <a:gd name="connsiteY0-34" fmla="*/ 1513398 h 1606110"/>
                  <a:gd name="connsiteX1-35" fmla="*/ 0 w 1577751"/>
                  <a:gd name="connsiteY1-36" fmla="*/ 1606110 h 1606110"/>
                  <a:gd name="connsiteX2-37" fmla="*/ 0 w 1577751"/>
                  <a:gd name="connsiteY2-38" fmla="*/ 0 h 1606110"/>
                  <a:gd name="connsiteX3-39" fmla="*/ 388398 w 1577751"/>
                  <a:gd name="connsiteY3-40" fmla="*/ 92710 h 1606110"/>
                  <a:gd name="connsiteX4-41" fmla="*/ 1560141 w 1577751"/>
                  <a:gd name="connsiteY4-42" fmla="*/ 229749 h 1606110"/>
                  <a:gd name="connsiteX5-43" fmla="*/ 1577751 w 1577751"/>
                  <a:gd name="connsiteY5-44" fmla="*/ 229579 h 1606110"/>
                  <a:gd name="connsiteX6-45" fmla="*/ 1577751 w 1577751"/>
                  <a:gd name="connsiteY6-46" fmla="*/ 1376530 h 1606110"/>
                  <a:gd name="connsiteX0-47" fmla="*/ 388398 w 1577751"/>
                  <a:gd name="connsiteY0-48" fmla="*/ 1513398 h 1606110"/>
                  <a:gd name="connsiteX1-49" fmla="*/ 0 w 1577751"/>
                  <a:gd name="connsiteY1-50" fmla="*/ 1606110 h 1606110"/>
                  <a:gd name="connsiteX2-51" fmla="*/ 0 w 1577751"/>
                  <a:gd name="connsiteY2-52" fmla="*/ 0 h 1606110"/>
                  <a:gd name="connsiteX3-53" fmla="*/ 388398 w 1577751"/>
                  <a:gd name="connsiteY3-54" fmla="*/ 92710 h 1606110"/>
                  <a:gd name="connsiteX4-55" fmla="*/ 1560141 w 1577751"/>
                  <a:gd name="connsiteY4-56" fmla="*/ 229749 h 1606110"/>
                  <a:gd name="connsiteX5-57" fmla="*/ 1577751 w 1577751"/>
                  <a:gd name="connsiteY5-58" fmla="*/ 229579 h 1606110"/>
                  <a:gd name="connsiteX0-59" fmla="*/ 0 w 1577751"/>
                  <a:gd name="connsiteY0-60" fmla="*/ 1606110 h 1606110"/>
                  <a:gd name="connsiteX1-61" fmla="*/ 0 w 1577751"/>
                  <a:gd name="connsiteY1-62" fmla="*/ 0 h 1606110"/>
                  <a:gd name="connsiteX2-63" fmla="*/ 388398 w 1577751"/>
                  <a:gd name="connsiteY2-64" fmla="*/ 92710 h 1606110"/>
                  <a:gd name="connsiteX3-65" fmla="*/ 1560141 w 1577751"/>
                  <a:gd name="connsiteY3-66" fmla="*/ 229749 h 1606110"/>
                  <a:gd name="connsiteX4-67" fmla="*/ 1577751 w 1577751"/>
                  <a:gd name="connsiteY4-68" fmla="*/ 229579 h 1606110"/>
                  <a:gd name="connsiteX0-69" fmla="*/ 0 w 1577751"/>
                  <a:gd name="connsiteY0-70" fmla="*/ 0 h 229749"/>
                  <a:gd name="connsiteX1-71" fmla="*/ 388398 w 1577751"/>
                  <a:gd name="connsiteY1-72" fmla="*/ 92710 h 229749"/>
                  <a:gd name="connsiteX2-73" fmla="*/ 1560141 w 1577751"/>
                  <a:gd name="connsiteY2-74" fmla="*/ 229749 h 229749"/>
                  <a:gd name="connsiteX3-75" fmla="*/ 1577751 w 1577751"/>
                  <a:gd name="connsiteY3-76" fmla="*/ 229579 h 22974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577751" h="229749">
                    <a:moveTo>
                      <a:pt x="0" y="0"/>
                    </a:moveTo>
                    <a:lnTo>
                      <a:pt x="388398" y="92710"/>
                    </a:lnTo>
                    <a:cubicBezTo>
                      <a:pt x="792903" y="176828"/>
                      <a:pt x="1186599" y="221368"/>
                      <a:pt x="1560141" y="229749"/>
                    </a:cubicBezTo>
                    <a:lnTo>
                      <a:pt x="1577751" y="229579"/>
                    </a:lnTo>
                  </a:path>
                </a:pathLst>
              </a:custGeom>
              <a:noFill/>
              <a:ln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思源黑体 CN Regular" panose="020B0500000000000000" pitchFamily="34" charset="-122"/>
                </a:endParaRPr>
              </a:p>
            </p:txBody>
          </p:sp>
          <p:sp>
            <p:nvSpPr>
              <p:cNvPr id="10" name="直角三角形 9">
                <a:extLst>
                  <a:ext uri="{FF2B5EF4-FFF2-40B4-BE49-F238E27FC236}">
                    <a16:creationId xmlns:a16="http://schemas.microsoft.com/office/drawing/2014/main" id="{BA1D0B9D-83C1-9E2E-7DCA-E4932D443B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19581" y="4227901"/>
                <a:ext cx="69774" cy="36000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思源黑体 CN Regular" panose="020B0500000000000000" pitchFamily="34" charset="-122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AADF948-E024-B40E-61C4-632320B08127}"/>
                </a:ext>
              </a:extLst>
            </p:cNvPr>
            <p:cNvGrpSpPr/>
            <p:nvPr/>
          </p:nvGrpSpPr>
          <p:grpSpPr>
            <a:xfrm flipV="1">
              <a:off x="4380811" y="4393572"/>
              <a:ext cx="1577751" cy="229749"/>
              <a:chOff x="8011855" y="4038291"/>
              <a:chExt cx="1577751" cy="229749"/>
            </a:xfrm>
          </p:grpSpPr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31F6AB5C-144C-B6D0-1EEF-A1813893D824}"/>
                  </a:ext>
                </a:extLst>
              </p:cNvPr>
              <p:cNvSpPr/>
              <p:nvPr/>
            </p:nvSpPr>
            <p:spPr>
              <a:xfrm>
                <a:off x="8011855" y="4038291"/>
                <a:ext cx="1577751" cy="229749"/>
              </a:xfrm>
              <a:custGeom>
                <a:avLst/>
                <a:gdLst>
                  <a:gd name="connsiteX0" fmla="*/ 0 w 1577751"/>
                  <a:gd name="connsiteY0" fmla="*/ 0 h 1606110"/>
                  <a:gd name="connsiteX1" fmla="*/ 388398 w 1577751"/>
                  <a:gd name="connsiteY1" fmla="*/ 92710 h 1606110"/>
                  <a:gd name="connsiteX2" fmla="*/ 1560141 w 1577751"/>
                  <a:gd name="connsiteY2" fmla="*/ 229749 h 1606110"/>
                  <a:gd name="connsiteX3" fmla="*/ 1577751 w 1577751"/>
                  <a:gd name="connsiteY3" fmla="*/ 229579 h 1606110"/>
                  <a:gd name="connsiteX4" fmla="*/ 1577751 w 1577751"/>
                  <a:gd name="connsiteY4" fmla="*/ 1376530 h 1606110"/>
                  <a:gd name="connsiteX5" fmla="*/ 1560141 w 1577751"/>
                  <a:gd name="connsiteY5" fmla="*/ 1376359 h 1606110"/>
                  <a:gd name="connsiteX6" fmla="*/ 388398 w 1577751"/>
                  <a:gd name="connsiteY6" fmla="*/ 1513398 h 1606110"/>
                  <a:gd name="connsiteX7" fmla="*/ 0 w 1577751"/>
                  <a:gd name="connsiteY7" fmla="*/ 1606110 h 1606110"/>
                  <a:gd name="connsiteX0-1" fmla="*/ 388398 w 1577751"/>
                  <a:gd name="connsiteY0-2" fmla="*/ 1513398 h 1606110"/>
                  <a:gd name="connsiteX1-3" fmla="*/ 0 w 1577751"/>
                  <a:gd name="connsiteY1-4" fmla="*/ 1606110 h 1606110"/>
                  <a:gd name="connsiteX2-5" fmla="*/ 0 w 1577751"/>
                  <a:gd name="connsiteY2-6" fmla="*/ 0 h 1606110"/>
                  <a:gd name="connsiteX3-7" fmla="*/ 388398 w 1577751"/>
                  <a:gd name="connsiteY3-8" fmla="*/ 92710 h 1606110"/>
                  <a:gd name="connsiteX4-9" fmla="*/ 1560141 w 1577751"/>
                  <a:gd name="connsiteY4-10" fmla="*/ 229749 h 1606110"/>
                  <a:gd name="connsiteX5-11" fmla="*/ 1577751 w 1577751"/>
                  <a:gd name="connsiteY5-12" fmla="*/ 229579 h 1606110"/>
                  <a:gd name="connsiteX6-13" fmla="*/ 1577751 w 1577751"/>
                  <a:gd name="connsiteY6-14" fmla="*/ 1376530 h 1606110"/>
                  <a:gd name="connsiteX7-15" fmla="*/ 1560141 w 1577751"/>
                  <a:gd name="connsiteY7-16" fmla="*/ 1376359 h 1606110"/>
                  <a:gd name="connsiteX8" fmla="*/ 479838 w 1577751"/>
                  <a:gd name="connsiteY8" fmla="*/ 1604838 h 1606110"/>
                  <a:gd name="connsiteX0-17" fmla="*/ 388398 w 1577751"/>
                  <a:gd name="connsiteY0-18" fmla="*/ 1513398 h 1606110"/>
                  <a:gd name="connsiteX1-19" fmla="*/ 0 w 1577751"/>
                  <a:gd name="connsiteY1-20" fmla="*/ 1606110 h 1606110"/>
                  <a:gd name="connsiteX2-21" fmla="*/ 0 w 1577751"/>
                  <a:gd name="connsiteY2-22" fmla="*/ 0 h 1606110"/>
                  <a:gd name="connsiteX3-23" fmla="*/ 388398 w 1577751"/>
                  <a:gd name="connsiteY3-24" fmla="*/ 92710 h 1606110"/>
                  <a:gd name="connsiteX4-25" fmla="*/ 1560141 w 1577751"/>
                  <a:gd name="connsiteY4-26" fmla="*/ 229749 h 1606110"/>
                  <a:gd name="connsiteX5-27" fmla="*/ 1577751 w 1577751"/>
                  <a:gd name="connsiteY5-28" fmla="*/ 229579 h 1606110"/>
                  <a:gd name="connsiteX6-29" fmla="*/ 1577751 w 1577751"/>
                  <a:gd name="connsiteY6-30" fmla="*/ 1376530 h 1606110"/>
                  <a:gd name="connsiteX7-31" fmla="*/ 1560141 w 1577751"/>
                  <a:gd name="connsiteY7-32" fmla="*/ 1376359 h 1606110"/>
                  <a:gd name="connsiteX0-33" fmla="*/ 388398 w 1577751"/>
                  <a:gd name="connsiteY0-34" fmla="*/ 1513398 h 1606110"/>
                  <a:gd name="connsiteX1-35" fmla="*/ 0 w 1577751"/>
                  <a:gd name="connsiteY1-36" fmla="*/ 1606110 h 1606110"/>
                  <a:gd name="connsiteX2-37" fmla="*/ 0 w 1577751"/>
                  <a:gd name="connsiteY2-38" fmla="*/ 0 h 1606110"/>
                  <a:gd name="connsiteX3-39" fmla="*/ 388398 w 1577751"/>
                  <a:gd name="connsiteY3-40" fmla="*/ 92710 h 1606110"/>
                  <a:gd name="connsiteX4-41" fmla="*/ 1560141 w 1577751"/>
                  <a:gd name="connsiteY4-42" fmla="*/ 229749 h 1606110"/>
                  <a:gd name="connsiteX5-43" fmla="*/ 1577751 w 1577751"/>
                  <a:gd name="connsiteY5-44" fmla="*/ 229579 h 1606110"/>
                  <a:gd name="connsiteX6-45" fmla="*/ 1577751 w 1577751"/>
                  <a:gd name="connsiteY6-46" fmla="*/ 1376530 h 1606110"/>
                  <a:gd name="connsiteX0-47" fmla="*/ 388398 w 1577751"/>
                  <a:gd name="connsiteY0-48" fmla="*/ 1513398 h 1606110"/>
                  <a:gd name="connsiteX1-49" fmla="*/ 0 w 1577751"/>
                  <a:gd name="connsiteY1-50" fmla="*/ 1606110 h 1606110"/>
                  <a:gd name="connsiteX2-51" fmla="*/ 0 w 1577751"/>
                  <a:gd name="connsiteY2-52" fmla="*/ 0 h 1606110"/>
                  <a:gd name="connsiteX3-53" fmla="*/ 388398 w 1577751"/>
                  <a:gd name="connsiteY3-54" fmla="*/ 92710 h 1606110"/>
                  <a:gd name="connsiteX4-55" fmla="*/ 1560141 w 1577751"/>
                  <a:gd name="connsiteY4-56" fmla="*/ 229749 h 1606110"/>
                  <a:gd name="connsiteX5-57" fmla="*/ 1577751 w 1577751"/>
                  <a:gd name="connsiteY5-58" fmla="*/ 229579 h 1606110"/>
                  <a:gd name="connsiteX0-59" fmla="*/ 0 w 1577751"/>
                  <a:gd name="connsiteY0-60" fmla="*/ 1606110 h 1606110"/>
                  <a:gd name="connsiteX1-61" fmla="*/ 0 w 1577751"/>
                  <a:gd name="connsiteY1-62" fmla="*/ 0 h 1606110"/>
                  <a:gd name="connsiteX2-63" fmla="*/ 388398 w 1577751"/>
                  <a:gd name="connsiteY2-64" fmla="*/ 92710 h 1606110"/>
                  <a:gd name="connsiteX3-65" fmla="*/ 1560141 w 1577751"/>
                  <a:gd name="connsiteY3-66" fmla="*/ 229749 h 1606110"/>
                  <a:gd name="connsiteX4-67" fmla="*/ 1577751 w 1577751"/>
                  <a:gd name="connsiteY4-68" fmla="*/ 229579 h 1606110"/>
                  <a:gd name="connsiteX0-69" fmla="*/ 0 w 1577751"/>
                  <a:gd name="connsiteY0-70" fmla="*/ 0 h 229749"/>
                  <a:gd name="connsiteX1-71" fmla="*/ 388398 w 1577751"/>
                  <a:gd name="connsiteY1-72" fmla="*/ 92710 h 229749"/>
                  <a:gd name="connsiteX2-73" fmla="*/ 1560141 w 1577751"/>
                  <a:gd name="connsiteY2-74" fmla="*/ 229749 h 229749"/>
                  <a:gd name="connsiteX3-75" fmla="*/ 1577751 w 1577751"/>
                  <a:gd name="connsiteY3-76" fmla="*/ 229579 h 22974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577751" h="229749">
                    <a:moveTo>
                      <a:pt x="0" y="0"/>
                    </a:moveTo>
                    <a:lnTo>
                      <a:pt x="388398" y="92710"/>
                    </a:lnTo>
                    <a:cubicBezTo>
                      <a:pt x="792903" y="176828"/>
                      <a:pt x="1186599" y="221368"/>
                      <a:pt x="1560141" y="229749"/>
                    </a:cubicBezTo>
                    <a:lnTo>
                      <a:pt x="1577751" y="229579"/>
                    </a:lnTo>
                  </a:path>
                </a:pathLst>
              </a:custGeom>
              <a:noFill/>
              <a:ln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思源黑体 CN Regular" panose="020B0500000000000000" pitchFamily="34" charset="-122"/>
                </a:endParaRPr>
              </a:p>
            </p:txBody>
          </p:sp>
          <p:sp>
            <p:nvSpPr>
              <p:cNvPr id="8" name="直角三角形 7">
                <a:extLst>
                  <a:ext uri="{FF2B5EF4-FFF2-40B4-BE49-F238E27FC236}">
                    <a16:creationId xmlns:a16="http://schemas.microsoft.com/office/drawing/2014/main" id="{1D73E8B3-0173-5D82-DC16-DE2A9BE4B84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19581" y="4227901"/>
                <a:ext cx="69774" cy="36000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思源黑体 CN Regular" panose="020B0500000000000000" pitchFamily="34" charset="-122"/>
                </a:endParaRPr>
              </a:p>
            </p:txBody>
          </p:sp>
        </p:grp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427B7F6C-E4E7-7835-1334-1F66D29B624B}"/>
              </a:ext>
            </a:extLst>
          </p:cNvPr>
          <p:cNvSpPr/>
          <p:nvPr/>
        </p:nvSpPr>
        <p:spPr>
          <a:xfrm>
            <a:off x="1099255" y="2649839"/>
            <a:ext cx="1663413" cy="1663413"/>
          </a:xfrm>
          <a:prstGeom prst="ellipse">
            <a:avLst/>
          </a:prstGeom>
          <a:solidFill>
            <a:schemeClr val="accent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05F56A9-B12E-4794-683E-6A28D004E2CC}"/>
              </a:ext>
            </a:extLst>
          </p:cNvPr>
          <p:cNvCxnSpPr/>
          <p:nvPr/>
        </p:nvCxnSpPr>
        <p:spPr>
          <a:xfrm>
            <a:off x="2852565" y="3481545"/>
            <a:ext cx="964123" cy="0"/>
          </a:xfrm>
          <a:prstGeom prst="straightConnector1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4C1D318D-0FFC-EEB7-4295-AF17DA5E755E}"/>
              </a:ext>
            </a:extLst>
          </p:cNvPr>
          <p:cNvSpPr/>
          <p:nvPr/>
        </p:nvSpPr>
        <p:spPr>
          <a:xfrm>
            <a:off x="3924397" y="2966710"/>
            <a:ext cx="1029671" cy="1029671"/>
          </a:xfrm>
          <a:prstGeom prst="ellipse">
            <a:avLst/>
          </a:prstGeom>
          <a:solidFill>
            <a:schemeClr val="accent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D3545F3-8A24-A3DE-2F23-72DF72CCD254}"/>
              </a:ext>
            </a:extLst>
          </p:cNvPr>
          <p:cNvCxnSpPr>
            <a:cxnSpLocks/>
          </p:cNvCxnSpPr>
          <p:nvPr/>
        </p:nvCxnSpPr>
        <p:spPr>
          <a:xfrm>
            <a:off x="4915310" y="3481545"/>
            <a:ext cx="822932" cy="0"/>
          </a:xfrm>
          <a:prstGeom prst="straightConnector1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7BAB081-3F44-E98E-E434-8B36E5CD6157}"/>
              </a:ext>
            </a:extLst>
          </p:cNvPr>
          <p:cNvGrpSpPr/>
          <p:nvPr/>
        </p:nvGrpSpPr>
        <p:grpSpPr>
          <a:xfrm>
            <a:off x="1517604" y="3140676"/>
            <a:ext cx="826714" cy="681738"/>
            <a:chOff x="9321802" y="2277533"/>
            <a:chExt cx="1013884" cy="836085"/>
          </a:xfrm>
        </p:grpSpPr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B3FB9DC9-499A-02A1-F362-9725E92CB64B}"/>
                </a:ext>
              </a:extLst>
            </p:cNvPr>
            <p:cNvSpPr/>
            <p:nvPr/>
          </p:nvSpPr>
          <p:spPr bwMode="auto">
            <a:xfrm>
              <a:off x="9321802" y="2531534"/>
              <a:ext cx="1013884" cy="582084"/>
            </a:xfrm>
            <a:custGeom>
              <a:avLst/>
              <a:gdLst>
                <a:gd name="T0" fmla="*/ 420 w 479"/>
                <a:gd name="T1" fmla="*/ 41 h 275"/>
                <a:gd name="T2" fmla="*/ 240 w 479"/>
                <a:gd name="T3" fmla="*/ 169 h 275"/>
                <a:gd name="T4" fmla="*/ 59 w 479"/>
                <a:gd name="T5" fmla="*/ 41 h 275"/>
                <a:gd name="T6" fmla="*/ 0 w 479"/>
                <a:gd name="T7" fmla="*/ 0 h 275"/>
                <a:gd name="T8" fmla="*/ 0 w 479"/>
                <a:gd name="T9" fmla="*/ 275 h 275"/>
                <a:gd name="T10" fmla="*/ 479 w 479"/>
                <a:gd name="T11" fmla="*/ 275 h 275"/>
                <a:gd name="T12" fmla="*/ 479 w 479"/>
                <a:gd name="T13" fmla="*/ 0 h 275"/>
                <a:gd name="T14" fmla="*/ 420 w 479"/>
                <a:gd name="T15" fmla="*/ 41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9" h="275">
                  <a:moveTo>
                    <a:pt x="420" y="41"/>
                  </a:moveTo>
                  <a:lnTo>
                    <a:pt x="240" y="169"/>
                  </a:lnTo>
                  <a:lnTo>
                    <a:pt x="59" y="41"/>
                  </a:lnTo>
                  <a:lnTo>
                    <a:pt x="0" y="0"/>
                  </a:lnTo>
                  <a:lnTo>
                    <a:pt x="0" y="275"/>
                  </a:lnTo>
                  <a:lnTo>
                    <a:pt x="479" y="275"/>
                  </a:lnTo>
                  <a:lnTo>
                    <a:pt x="479" y="0"/>
                  </a:lnTo>
                  <a:lnTo>
                    <a:pt x="420" y="4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endParaRPr>
            </a:p>
          </p:txBody>
        </p:sp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0009774A-499F-1FAB-24F5-3918A1401E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17052" y="2277533"/>
              <a:ext cx="823384" cy="584200"/>
            </a:xfrm>
            <a:custGeom>
              <a:avLst/>
              <a:gdLst>
                <a:gd name="T0" fmla="*/ 3 w 225"/>
                <a:gd name="T1" fmla="*/ 83 h 159"/>
                <a:gd name="T2" fmla="*/ 108 w 225"/>
                <a:gd name="T3" fmla="*/ 157 h 159"/>
                <a:gd name="T4" fmla="*/ 113 w 225"/>
                <a:gd name="T5" fmla="*/ 159 h 159"/>
                <a:gd name="T6" fmla="*/ 117 w 225"/>
                <a:gd name="T7" fmla="*/ 157 h 159"/>
                <a:gd name="T8" fmla="*/ 222 w 225"/>
                <a:gd name="T9" fmla="*/ 83 h 159"/>
                <a:gd name="T10" fmla="*/ 225 w 225"/>
                <a:gd name="T11" fmla="*/ 76 h 159"/>
                <a:gd name="T12" fmla="*/ 225 w 225"/>
                <a:gd name="T13" fmla="*/ 8 h 159"/>
                <a:gd name="T14" fmla="*/ 217 w 225"/>
                <a:gd name="T15" fmla="*/ 0 h 159"/>
                <a:gd name="T16" fmla="*/ 8 w 225"/>
                <a:gd name="T17" fmla="*/ 0 h 159"/>
                <a:gd name="T18" fmla="*/ 0 w 225"/>
                <a:gd name="T19" fmla="*/ 8 h 159"/>
                <a:gd name="T20" fmla="*/ 0 w 225"/>
                <a:gd name="T21" fmla="*/ 76 h 159"/>
                <a:gd name="T22" fmla="*/ 3 w 225"/>
                <a:gd name="T23" fmla="*/ 83 h 159"/>
                <a:gd name="T24" fmla="*/ 16 w 225"/>
                <a:gd name="T25" fmla="*/ 16 h 159"/>
                <a:gd name="T26" fmla="*/ 209 w 225"/>
                <a:gd name="T27" fmla="*/ 16 h 159"/>
                <a:gd name="T28" fmla="*/ 209 w 225"/>
                <a:gd name="T29" fmla="*/ 72 h 159"/>
                <a:gd name="T30" fmla="*/ 113 w 225"/>
                <a:gd name="T31" fmla="*/ 141 h 159"/>
                <a:gd name="T32" fmla="*/ 16 w 225"/>
                <a:gd name="T33" fmla="*/ 72 h 159"/>
                <a:gd name="T34" fmla="*/ 16 w 225"/>
                <a:gd name="T35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5" h="159">
                  <a:moveTo>
                    <a:pt x="3" y="83"/>
                  </a:moveTo>
                  <a:cubicBezTo>
                    <a:pt x="108" y="157"/>
                    <a:pt x="108" y="157"/>
                    <a:pt x="108" y="157"/>
                  </a:cubicBezTo>
                  <a:cubicBezTo>
                    <a:pt x="109" y="158"/>
                    <a:pt x="111" y="159"/>
                    <a:pt x="113" y="159"/>
                  </a:cubicBezTo>
                  <a:cubicBezTo>
                    <a:pt x="114" y="159"/>
                    <a:pt x="116" y="158"/>
                    <a:pt x="117" y="157"/>
                  </a:cubicBezTo>
                  <a:cubicBezTo>
                    <a:pt x="222" y="83"/>
                    <a:pt x="222" y="83"/>
                    <a:pt x="222" y="83"/>
                  </a:cubicBezTo>
                  <a:cubicBezTo>
                    <a:pt x="224" y="81"/>
                    <a:pt x="225" y="79"/>
                    <a:pt x="225" y="76"/>
                  </a:cubicBezTo>
                  <a:cubicBezTo>
                    <a:pt x="225" y="8"/>
                    <a:pt x="225" y="8"/>
                    <a:pt x="225" y="8"/>
                  </a:cubicBezTo>
                  <a:cubicBezTo>
                    <a:pt x="225" y="3"/>
                    <a:pt x="221" y="0"/>
                    <a:pt x="21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9"/>
                    <a:pt x="1" y="81"/>
                    <a:pt x="3" y="83"/>
                  </a:cubicBezTo>
                  <a:close/>
                  <a:moveTo>
                    <a:pt x="16" y="16"/>
                  </a:moveTo>
                  <a:cubicBezTo>
                    <a:pt x="209" y="16"/>
                    <a:pt x="209" y="16"/>
                    <a:pt x="209" y="16"/>
                  </a:cubicBezTo>
                  <a:cubicBezTo>
                    <a:pt x="209" y="72"/>
                    <a:pt x="209" y="72"/>
                    <a:pt x="209" y="72"/>
                  </a:cubicBezTo>
                  <a:cubicBezTo>
                    <a:pt x="113" y="141"/>
                    <a:pt x="113" y="141"/>
                    <a:pt x="113" y="141"/>
                  </a:cubicBezTo>
                  <a:cubicBezTo>
                    <a:pt x="16" y="72"/>
                    <a:pt x="16" y="72"/>
                    <a:pt x="16" y="72"/>
                  </a:cubicBezTo>
                  <a:lnTo>
                    <a:pt x="1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endParaRPr>
            </a:p>
          </p:txBody>
        </p:sp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31A09ABA-1FA4-84CB-095C-89E58534ACD9}"/>
                </a:ext>
              </a:extLst>
            </p:cNvPr>
            <p:cNvSpPr/>
            <p:nvPr/>
          </p:nvSpPr>
          <p:spPr bwMode="auto">
            <a:xfrm>
              <a:off x="9563102" y="2398184"/>
              <a:ext cx="512233" cy="67733"/>
            </a:xfrm>
            <a:custGeom>
              <a:avLst/>
              <a:gdLst>
                <a:gd name="T0" fmla="*/ 9 w 140"/>
                <a:gd name="T1" fmla="*/ 18 h 18"/>
                <a:gd name="T2" fmla="*/ 131 w 140"/>
                <a:gd name="T3" fmla="*/ 18 h 18"/>
                <a:gd name="T4" fmla="*/ 140 w 140"/>
                <a:gd name="T5" fmla="*/ 9 h 18"/>
                <a:gd name="T6" fmla="*/ 131 w 140"/>
                <a:gd name="T7" fmla="*/ 0 h 18"/>
                <a:gd name="T8" fmla="*/ 9 w 140"/>
                <a:gd name="T9" fmla="*/ 0 h 18"/>
                <a:gd name="T10" fmla="*/ 0 w 140"/>
                <a:gd name="T11" fmla="*/ 9 h 18"/>
                <a:gd name="T12" fmla="*/ 9 w 140"/>
                <a:gd name="T1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18">
                  <a:moveTo>
                    <a:pt x="9" y="18"/>
                  </a:moveTo>
                  <a:cubicBezTo>
                    <a:pt x="131" y="18"/>
                    <a:pt x="131" y="18"/>
                    <a:pt x="131" y="18"/>
                  </a:cubicBezTo>
                  <a:cubicBezTo>
                    <a:pt x="136" y="18"/>
                    <a:pt x="140" y="14"/>
                    <a:pt x="140" y="9"/>
                  </a:cubicBezTo>
                  <a:cubicBezTo>
                    <a:pt x="140" y="4"/>
                    <a:pt x="136" y="0"/>
                    <a:pt x="13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A01E7037-52B0-B4B8-A0FD-E3B17BFBBD58}"/>
                </a:ext>
              </a:extLst>
            </p:cNvPr>
            <p:cNvSpPr/>
            <p:nvPr/>
          </p:nvSpPr>
          <p:spPr bwMode="auto">
            <a:xfrm>
              <a:off x="9563102" y="2512485"/>
              <a:ext cx="512233" cy="65617"/>
            </a:xfrm>
            <a:custGeom>
              <a:avLst/>
              <a:gdLst>
                <a:gd name="T0" fmla="*/ 140 w 140"/>
                <a:gd name="T1" fmla="*/ 9 h 18"/>
                <a:gd name="T2" fmla="*/ 131 w 140"/>
                <a:gd name="T3" fmla="*/ 0 h 18"/>
                <a:gd name="T4" fmla="*/ 9 w 140"/>
                <a:gd name="T5" fmla="*/ 0 h 18"/>
                <a:gd name="T6" fmla="*/ 0 w 140"/>
                <a:gd name="T7" fmla="*/ 9 h 18"/>
                <a:gd name="T8" fmla="*/ 9 w 140"/>
                <a:gd name="T9" fmla="*/ 18 h 18"/>
                <a:gd name="T10" fmla="*/ 131 w 140"/>
                <a:gd name="T11" fmla="*/ 18 h 18"/>
                <a:gd name="T12" fmla="*/ 140 w 140"/>
                <a:gd name="T13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18">
                  <a:moveTo>
                    <a:pt x="140" y="9"/>
                  </a:moveTo>
                  <a:cubicBezTo>
                    <a:pt x="140" y="4"/>
                    <a:pt x="136" y="0"/>
                    <a:pt x="13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1" y="18"/>
                    <a:pt x="131" y="18"/>
                    <a:pt x="131" y="18"/>
                  </a:cubicBezTo>
                  <a:cubicBezTo>
                    <a:pt x="136" y="18"/>
                    <a:pt x="140" y="14"/>
                    <a:pt x="140" y="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23" name="Shape 1861">
            <a:extLst>
              <a:ext uri="{FF2B5EF4-FFF2-40B4-BE49-F238E27FC236}">
                <a16:creationId xmlns:a16="http://schemas.microsoft.com/office/drawing/2014/main" id="{91A375BD-EDC6-D5C1-8831-CAB467049EB8}"/>
              </a:ext>
            </a:extLst>
          </p:cNvPr>
          <p:cNvSpPr/>
          <p:nvPr/>
        </p:nvSpPr>
        <p:spPr>
          <a:xfrm>
            <a:off x="4256035" y="3286899"/>
            <a:ext cx="366394" cy="3892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202" y="5002"/>
                </a:moveTo>
                <a:cubicBezTo>
                  <a:pt x="20144" y="6594"/>
                  <a:pt x="21600" y="9095"/>
                  <a:pt x="21600" y="12051"/>
                </a:cubicBezTo>
                <a:cubicBezTo>
                  <a:pt x="21600" y="14324"/>
                  <a:pt x="20629" y="16598"/>
                  <a:pt x="18930" y="18189"/>
                </a:cubicBezTo>
                <a:cubicBezTo>
                  <a:pt x="11407" y="12051"/>
                  <a:pt x="11407" y="12051"/>
                  <a:pt x="11407" y="12051"/>
                </a:cubicBezTo>
                <a:cubicBezTo>
                  <a:pt x="18202" y="5002"/>
                  <a:pt x="18202" y="5002"/>
                  <a:pt x="18202" y="5002"/>
                </a:cubicBezTo>
                <a:close/>
                <a:moveTo>
                  <a:pt x="18445" y="18872"/>
                </a:moveTo>
                <a:cubicBezTo>
                  <a:pt x="17960" y="19326"/>
                  <a:pt x="17474" y="19781"/>
                  <a:pt x="16746" y="20008"/>
                </a:cubicBezTo>
                <a:cubicBezTo>
                  <a:pt x="17960" y="18417"/>
                  <a:pt x="17960" y="18417"/>
                  <a:pt x="17960" y="18417"/>
                </a:cubicBezTo>
                <a:cubicBezTo>
                  <a:pt x="18445" y="18872"/>
                  <a:pt x="18445" y="18872"/>
                  <a:pt x="18445" y="18872"/>
                </a:cubicBezTo>
                <a:close/>
                <a:moveTo>
                  <a:pt x="15533" y="20918"/>
                </a:moveTo>
                <a:cubicBezTo>
                  <a:pt x="17474" y="17962"/>
                  <a:pt x="17474" y="17962"/>
                  <a:pt x="17474" y="17962"/>
                </a:cubicBezTo>
                <a:cubicBezTo>
                  <a:pt x="16989" y="17507"/>
                  <a:pt x="16989" y="17507"/>
                  <a:pt x="16989" y="17507"/>
                </a:cubicBezTo>
                <a:cubicBezTo>
                  <a:pt x="14562" y="21373"/>
                  <a:pt x="14562" y="21373"/>
                  <a:pt x="14562" y="21373"/>
                </a:cubicBezTo>
                <a:cubicBezTo>
                  <a:pt x="14804" y="21145"/>
                  <a:pt x="15290" y="20918"/>
                  <a:pt x="15533" y="20918"/>
                </a:cubicBezTo>
                <a:close/>
                <a:moveTo>
                  <a:pt x="14076" y="20691"/>
                </a:moveTo>
                <a:cubicBezTo>
                  <a:pt x="16261" y="17053"/>
                  <a:pt x="16261" y="17053"/>
                  <a:pt x="16261" y="17053"/>
                </a:cubicBezTo>
                <a:cubicBezTo>
                  <a:pt x="15775" y="16825"/>
                  <a:pt x="15775" y="16825"/>
                  <a:pt x="15775" y="16825"/>
                </a:cubicBezTo>
                <a:cubicBezTo>
                  <a:pt x="13834" y="20008"/>
                  <a:pt x="13834" y="20008"/>
                  <a:pt x="13834" y="20008"/>
                </a:cubicBezTo>
                <a:cubicBezTo>
                  <a:pt x="14076" y="20691"/>
                  <a:pt x="14076" y="20691"/>
                  <a:pt x="14076" y="20691"/>
                </a:cubicBezTo>
                <a:close/>
                <a:moveTo>
                  <a:pt x="13591" y="19099"/>
                </a:moveTo>
                <a:cubicBezTo>
                  <a:pt x="15290" y="16371"/>
                  <a:pt x="15290" y="16371"/>
                  <a:pt x="15290" y="16371"/>
                </a:cubicBezTo>
                <a:cubicBezTo>
                  <a:pt x="14804" y="15916"/>
                  <a:pt x="14804" y="15916"/>
                  <a:pt x="14804" y="15916"/>
                </a:cubicBezTo>
                <a:cubicBezTo>
                  <a:pt x="13348" y="18417"/>
                  <a:pt x="13348" y="18417"/>
                  <a:pt x="13348" y="18417"/>
                </a:cubicBezTo>
                <a:cubicBezTo>
                  <a:pt x="13591" y="19099"/>
                  <a:pt x="13591" y="19099"/>
                  <a:pt x="13591" y="19099"/>
                </a:cubicBezTo>
                <a:close/>
                <a:moveTo>
                  <a:pt x="12863" y="17735"/>
                </a:moveTo>
                <a:cubicBezTo>
                  <a:pt x="14319" y="15461"/>
                  <a:pt x="14319" y="15461"/>
                  <a:pt x="14319" y="15461"/>
                </a:cubicBezTo>
                <a:cubicBezTo>
                  <a:pt x="13834" y="15006"/>
                  <a:pt x="13834" y="15006"/>
                  <a:pt x="13834" y="15006"/>
                </a:cubicBezTo>
                <a:cubicBezTo>
                  <a:pt x="12620" y="17053"/>
                  <a:pt x="12620" y="17053"/>
                  <a:pt x="12620" y="17053"/>
                </a:cubicBezTo>
                <a:cubicBezTo>
                  <a:pt x="12863" y="17735"/>
                  <a:pt x="12863" y="17735"/>
                  <a:pt x="12863" y="17735"/>
                </a:cubicBezTo>
                <a:close/>
                <a:moveTo>
                  <a:pt x="12378" y="16143"/>
                </a:moveTo>
                <a:cubicBezTo>
                  <a:pt x="13348" y="14552"/>
                  <a:pt x="13348" y="14552"/>
                  <a:pt x="13348" y="14552"/>
                </a:cubicBezTo>
                <a:cubicBezTo>
                  <a:pt x="12863" y="14097"/>
                  <a:pt x="12863" y="14097"/>
                  <a:pt x="12863" y="14097"/>
                </a:cubicBezTo>
                <a:cubicBezTo>
                  <a:pt x="12135" y="15461"/>
                  <a:pt x="12135" y="15461"/>
                  <a:pt x="12135" y="15461"/>
                </a:cubicBezTo>
                <a:cubicBezTo>
                  <a:pt x="12378" y="16143"/>
                  <a:pt x="12378" y="16143"/>
                  <a:pt x="12378" y="16143"/>
                </a:cubicBezTo>
                <a:close/>
                <a:moveTo>
                  <a:pt x="11649" y="14779"/>
                </a:moveTo>
                <a:cubicBezTo>
                  <a:pt x="12378" y="13869"/>
                  <a:pt x="12378" y="13869"/>
                  <a:pt x="12378" y="13869"/>
                </a:cubicBezTo>
                <a:cubicBezTo>
                  <a:pt x="11892" y="13415"/>
                  <a:pt x="11892" y="13415"/>
                  <a:pt x="11892" y="13415"/>
                </a:cubicBezTo>
                <a:cubicBezTo>
                  <a:pt x="11407" y="13869"/>
                  <a:pt x="11407" y="13869"/>
                  <a:pt x="11407" y="13869"/>
                </a:cubicBezTo>
                <a:cubicBezTo>
                  <a:pt x="11649" y="14779"/>
                  <a:pt x="11649" y="14779"/>
                  <a:pt x="11649" y="14779"/>
                </a:cubicBezTo>
                <a:close/>
                <a:moveTo>
                  <a:pt x="11164" y="13187"/>
                </a:moveTo>
                <a:cubicBezTo>
                  <a:pt x="10921" y="12505"/>
                  <a:pt x="10921" y="12505"/>
                  <a:pt x="10921" y="12505"/>
                </a:cubicBezTo>
                <a:cubicBezTo>
                  <a:pt x="11407" y="12960"/>
                  <a:pt x="11407" y="12960"/>
                  <a:pt x="11407" y="12960"/>
                </a:cubicBezTo>
                <a:cubicBezTo>
                  <a:pt x="11164" y="13187"/>
                  <a:pt x="11164" y="13187"/>
                  <a:pt x="11164" y="13187"/>
                </a:cubicBezTo>
                <a:close/>
                <a:moveTo>
                  <a:pt x="14319" y="3865"/>
                </a:moveTo>
                <a:cubicBezTo>
                  <a:pt x="9951" y="12278"/>
                  <a:pt x="9951" y="12278"/>
                  <a:pt x="9951" y="12278"/>
                </a:cubicBezTo>
                <a:cubicBezTo>
                  <a:pt x="9951" y="12278"/>
                  <a:pt x="9222" y="6366"/>
                  <a:pt x="8737" y="2956"/>
                </a:cubicBezTo>
                <a:cubicBezTo>
                  <a:pt x="3883" y="3411"/>
                  <a:pt x="0" y="7503"/>
                  <a:pt x="0" y="12278"/>
                </a:cubicBezTo>
                <a:cubicBezTo>
                  <a:pt x="0" y="17507"/>
                  <a:pt x="4369" y="21600"/>
                  <a:pt x="9951" y="21600"/>
                </a:cubicBezTo>
                <a:cubicBezTo>
                  <a:pt x="11164" y="21600"/>
                  <a:pt x="12378" y="21373"/>
                  <a:pt x="13348" y="21145"/>
                </a:cubicBezTo>
                <a:cubicBezTo>
                  <a:pt x="9951" y="12278"/>
                  <a:pt x="9951" y="12278"/>
                  <a:pt x="9951" y="12278"/>
                </a:cubicBezTo>
                <a:cubicBezTo>
                  <a:pt x="16503" y="5229"/>
                  <a:pt x="16503" y="5229"/>
                  <a:pt x="16503" y="5229"/>
                </a:cubicBezTo>
                <a:cubicBezTo>
                  <a:pt x="16018" y="4547"/>
                  <a:pt x="15290" y="4093"/>
                  <a:pt x="14319" y="3865"/>
                </a:cubicBezTo>
                <a:close/>
                <a:moveTo>
                  <a:pt x="10436" y="0"/>
                </a:moveTo>
                <a:cubicBezTo>
                  <a:pt x="9951" y="0"/>
                  <a:pt x="9708" y="0"/>
                  <a:pt x="9222" y="0"/>
                </a:cubicBezTo>
                <a:cubicBezTo>
                  <a:pt x="9708" y="3411"/>
                  <a:pt x="10436" y="9322"/>
                  <a:pt x="10436" y="9322"/>
                </a:cubicBezTo>
                <a:cubicBezTo>
                  <a:pt x="14804" y="909"/>
                  <a:pt x="14804" y="909"/>
                  <a:pt x="14804" y="909"/>
                </a:cubicBezTo>
                <a:cubicBezTo>
                  <a:pt x="13591" y="227"/>
                  <a:pt x="11892" y="0"/>
                  <a:pt x="10436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7D7D7D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A8896BD-3407-DD53-E6B9-30C9ED8270F9}"/>
              </a:ext>
            </a:extLst>
          </p:cNvPr>
          <p:cNvCxnSpPr>
            <a:cxnSpLocks/>
          </p:cNvCxnSpPr>
          <p:nvPr/>
        </p:nvCxnSpPr>
        <p:spPr>
          <a:xfrm flipV="1">
            <a:off x="5056503" y="1849233"/>
            <a:ext cx="784174" cy="1458346"/>
          </a:xfrm>
          <a:prstGeom prst="straightConnector1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3BE622A-67C9-5B65-2694-816534958E55}"/>
              </a:ext>
            </a:extLst>
          </p:cNvPr>
          <p:cNvGrpSpPr/>
          <p:nvPr/>
        </p:nvGrpSpPr>
        <p:grpSpPr>
          <a:xfrm>
            <a:off x="4915311" y="1844433"/>
            <a:ext cx="964123" cy="1458346"/>
            <a:chOff x="4915311" y="1844433"/>
            <a:chExt cx="964123" cy="1458346"/>
          </a:xfrm>
        </p:grpSpPr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2052B46C-5F1D-A44D-0DE8-CEDB9A22B409}"/>
                </a:ext>
              </a:extLst>
            </p:cNvPr>
            <p:cNvCxnSpPr/>
            <p:nvPr/>
          </p:nvCxnSpPr>
          <p:spPr>
            <a:xfrm rot="18900000" flipV="1">
              <a:off x="4915311" y="2966710"/>
              <a:ext cx="964123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2236C363-9066-DBE9-A9E1-8CB3EA7AE8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6503" y="1844433"/>
              <a:ext cx="784174" cy="1458346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AD1E845-6374-A7D7-5A52-8FB7E91F0EAE}"/>
              </a:ext>
            </a:extLst>
          </p:cNvPr>
          <p:cNvGrpSpPr/>
          <p:nvPr/>
        </p:nvGrpSpPr>
        <p:grpSpPr>
          <a:xfrm flipV="1">
            <a:off x="4876554" y="3676192"/>
            <a:ext cx="964123" cy="1458345"/>
            <a:chOff x="4915311" y="1844433"/>
            <a:chExt cx="964123" cy="1458346"/>
          </a:xfrm>
        </p:grpSpPr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EEBF3B19-A253-264B-2C2A-12C534574951}"/>
                </a:ext>
              </a:extLst>
            </p:cNvPr>
            <p:cNvCxnSpPr/>
            <p:nvPr/>
          </p:nvCxnSpPr>
          <p:spPr>
            <a:xfrm rot="18900000" flipV="1">
              <a:off x="4915311" y="2966710"/>
              <a:ext cx="964123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A1583E1F-E97D-1C56-17E2-43A6FBC35F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6503" y="1844433"/>
              <a:ext cx="784174" cy="1458346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8492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5" Type="http://schemas.openxmlformats.org/officeDocument/2006/relationships/theme" Target="../theme/theme10.xml"/><Relationship Id="rId4" Type="http://schemas.openxmlformats.org/officeDocument/2006/relationships/slideLayout" Target="../slideLayouts/slideLayout85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7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99.xml"/><Relationship Id="rId1" Type="http://schemas.openxmlformats.org/officeDocument/2006/relationships/slideLayout" Target="../slideLayouts/slideLayout98.xml"/><Relationship Id="rId5" Type="http://schemas.openxmlformats.org/officeDocument/2006/relationships/theme" Target="../theme/theme12.xml"/><Relationship Id="rId4" Type="http://schemas.openxmlformats.org/officeDocument/2006/relationships/slideLayout" Target="../slideLayouts/slideLayout101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theme" Target="../theme/theme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46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75" r:id="rId1"/>
    <p:sldLayoutId id="2157483776" r:id="rId2"/>
    <p:sldLayoutId id="2157483777" r:id="rId3"/>
    <p:sldLayoutId id="2157483778" r:id="rId4"/>
    <p:sldLayoutId id="2157483779" r:id="rId5"/>
    <p:sldLayoutId id="2157483716" r:id="rId6"/>
    <p:sldLayoutId id="2157483715" r:id="rId7"/>
    <p:sldLayoutId id="2157483714" r:id="rId8"/>
    <p:sldLayoutId id="215748371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13910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81" r:id="rId1"/>
    <p:sldLayoutId id="2157483782" r:id="rId2"/>
    <p:sldLayoutId id="2157483783" r:id="rId3"/>
    <p:sldLayoutId id="2157483784" r:id="rId4"/>
    <p:sldLayoutId id="2157483785" r:id="rId5"/>
    <p:sldLayoutId id="2157483786" r:id="rId6"/>
    <p:sldLayoutId id="2157483787" r:id="rId7"/>
    <p:sldLayoutId id="2157483788" r:id="rId8"/>
    <p:sldLayoutId id="2157483789" r:id="rId9"/>
    <p:sldLayoutId id="2157483790" r:id="rId10"/>
    <p:sldLayoutId id="215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07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93" r:id="rId1"/>
    <p:sldLayoutId id="2157483794" r:id="rId2"/>
    <p:sldLayoutId id="2157483795" r:id="rId3"/>
    <p:sldLayoutId id="2157483796" r:id="rId4"/>
    <p:sldLayoutId id="215748379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4224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99" r:id="rId1"/>
    <p:sldLayoutId id="2157483800" r:id="rId2"/>
    <p:sldLayoutId id="2157483801" r:id="rId3"/>
    <p:sldLayoutId id="2157483802" r:id="rId4"/>
    <p:sldLayoutId id="2157483803" r:id="rId5"/>
    <p:sldLayoutId id="2157483804" r:id="rId6"/>
    <p:sldLayoutId id="2157483805" r:id="rId7"/>
    <p:sldLayoutId id="2157483806" r:id="rId8"/>
    <p:sldLayoutId id="2157483807" r:id="rId9"/>
    <p:sldLayoutId id="2157483808" r:id="rId10"/>
    <p:sldLayoutId id="215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204315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11" r:id="rId1"/>
    <p:sldLayoutId id="2157483812" r:id="rId2"/>
    <p:sldLayoutId id="2157483813" r:id="rId3"/>
    <p:sldLayoutId id="2157483814" r:id="rId4"/>
    <p:sldLayoutId id="2157483815" r:id="rId5"/>
    <p:sldLayoutId id="2157483816" r:id="rId6"/>
    <p:sldLayoutId id="2157483817" r:id="rId7"/>
    <p:sldLayoutId id="2157483818" r:id="rId8"/>
    <p:sldLayoutId id="2157483819" r:id="rId9"/>
    <p:sldLayoutId id="2157483820" r:id="rId10"/>
    <p:sldLayoutId id="21574838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84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23" r:id="rId1"/>
    <p:sldLayoutId id="2157483824" r:id="rId2"/>
    <p:sldLayoutId id="2157483825" r:id="rId3"/>
    <p:sldLayoutId id="2157483826" r:id="rId4"/>
    <p:sldLayoutId id="215748382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03934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29" r:id="rId1"/>
    <p:sldLayoutId id="2157483830" r:id="rId2"/>
    <p:sldLayoutId id="2157483831" r:id="rId3"/>
    <p:sldLayoutId id="2157483832" r:id="rId4"/>
    <p:sldLayoutId id="2157483833" r:id="rId5"/>
    <p:sldLayoutId id="2157483834" r:id="rId6"/>
    <p:sldLayoutId id="2157483835" r:id="rId7"/>
    <p:sldLayoutId id="2157483836" r:id="rId8"/>
    <p:sldLayoutId id="2157483837" r:id="rId9"/>
    <p:sldLayoutId id="2157483838" r:id="rId10"/>
    <p:sldLayoutId id="2157483839" r:id="rId11"/>
    <p:sldLayoutId id="215748384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16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42" r:id="rId1"/>
    <p:sldLayoutId id="2157483843" r:id="rId2"/>
    <p:sldLayoutId id="2157483844" r:id="rId3"/>
    <p:sldLayoutId id="2157483845" r:id="rId4"/>
    <p:sldLayoutId id="215748384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358946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48" r:id="rId1"/>
    <p:sldLayoutId id="2157483849" r:id="rId2"/>
    <p:sldLayoutId id="2157483850" r:id="rId3"/>
    <p:sldLayoutId id="2157483851" r:id="rId4"/>
    <p:sldLayoutId id="2157483852" r:id="rId5"/>
    <p:sldLayoutId id="2157483853" r:id="rId6"/>
    <p:sldLayoutId id="2157483854" r:id="rId7"/>
    <p:sldLayoutId id="2157483855" r:id="rId8"/>
    <p:sldLayoutId id="2157483856" r:id="rId9"/>
    <p:sldLayoutId id="2157483857" r:id="rId10"/>
    <p:sldLayoutId id="2157483858" r:id="rId11"/>
    <p:sldLayoutId id="21574838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58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61" r:id="rId1"/>
    <p:sldLayoutId id="2157483862" r:id="rId2"/>
    <p:sldLayoutId id="2157483863" r:id="rId3"/>
    <p:sldLayoutId id="21574838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970651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66" r:id="rId1"/>
    <p:sldLayoutId id="2157483867" r:id="rId2"/>
    <p:sldLayoutId id="2157483868" r:id="rId3"/>
    <p:sldLayoutId id="2157483869" r:id="rId4"/>
    <p:sldLayoutId id="2157483870" r:id="rId5"/>
    <p:sldLayoutId id="2157483871" r:id="rId6"/>
    <p:sldLayoutId id="2157483872" r:id="rId7"/>
    <p:sldLayoutId id="2157483873" r:id="rId8"/>
    <p:sldLayoutId id="2157483874" r:id="rId9"/>
    <p:sldLayoutId id="2157483875" r:id="rId10"/>
    <p:sldLayoutId id="2157483876" r:id="rId11"/>
    <p:sldLayoutId id="21574838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13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79" r:id="rId1"/>
    <p:sldLayoutId id="2157483880" r:id="rId2"/>
    <p:sldLayoutId id="2157483881" r:id="rId3"/>
    <p:sldLayoutId id="215748388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86238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84" r:id="rId1"/>
    <p:sldLayoutId id="2157483885" r:id="rId2"/>
    <p:sldLayoutId id="2157483886" r:id="rId3"/>
    <p:sldLayoutId id="2157483887" r:id="rId4"/>
    <p:sldLayoutId id="2157483888" r:id="rId5"/>
    <p:sldLayoutId id="2157483889" r:id="rId6"/>
    <p:sldLayoutId id="2157483890" r:id="rId7"/>
    <p:sldLayoutId id="2157483891" r:id="rId8"/>
    <p:sldLayoutId id="2157483892" r:id="rId9"/>
    <p:sldLayoutId id="2157483893" r:id="rId10"/>
    <p:sldLayoutId id="2157483894" r:id="rId11"/>
    <p:sldLayoutId id="2157483895" r:id="rId12"/>
    <p:sldLayoutId id="215748389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AutoShape 18">
            <a:extLst>
              <a:ext uri="{FF2B5EF4-FFF2-40B4-BE49-F238E27FC236}">
                <a16:creationId xmlns:a16="http://schemas.microsoft.com/office/drawing/2014/main" id="{F787F346-EBC7-8402-901F-20EDF9DA3765}"/>
              </a:ext>
            </a:extLst>
          </p:cNvPr>
          <p:cNvSpPr/>
          <p:nvPr/>
        </p:nvSpPr>
        <p:spPr>
          <a:xfrm>
            <a:off x="1016000" y="26162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7200" b="0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音乐专辑数据分析</a:t>
            </a:r>
            <a:endParaRPr lang="en-US" sz="1100" dirty="0"/>
          </a:p>
        </p:txBody>
      </p:sp>
      <p:sp>
        <p:nvSpPr>
          <p:cNvPr id="38" name="AutoShape 19">
            <a:extLst>
              <a:ext uri="{FF2B5EF4-FFF2-40B4-BE49-F238E27FC236}">
                <a16:creationId xmlns:a16="http://schemas.microsoft.com/office/drawing/2014/main" id="{351BE23C-8924-8C19-0034-145CB50DC146}"/>
              </a:ext>
            </a:extLst>
          </p:cNvPr>
          <p:cNvSpPr/>
          <p:nvPr/>
        </p:nvSpPr>
        <p:spPr>
          <a:xfrm>
            <a:off x="3530600" y="3851643"/>
            <a:ext cx="5156200" cy="3104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b="0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基于10万条音乐专辑数据的分析与可视化</a:t>
            </a:r>
            <a:endParaRPr lang="en-US" sz="1000" dirty="0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70B4459D-2A1A-2623-6558-6D0994F3A5F0}"/>
              </a:ext>
            </a:extLst>
          </p:cNvPr>
          <p:cNvGrpSpPr/>
          <p:nvPr/>
        </p:nvGrpSpPr>
        <p:grpSpPr>
          <a:xfrm>
            <a:off x="6553200" y="5530112"/>
            <a:ext cx="3111500" cy="381000"/>
            <a:chOff x="2032000" y="5372100"/>
            <a:chExt cx="3111500" cy="381000"/>
          </a:xfrm>
        </p:grpSpPr>
        <p:sp>
          <p:nvSpPr>
            <p:cNvPr id="40" name="AutoShape 24">
              <a:extLst>
                <a:ext uri="{FF2B5EF4-FFF2-40B4-BE49-F238E27FC236}">
                  <a16:creationId xmlns:a16="http://schemas.microsoft.com/office/drawing/2014/main" id="{7ABA15E9-1ED5-9924-0042-92E97F217A83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1" name="AutoShape 25">
              <a:extLst>
                <a:ext uri="{FF2B5EF4-FFF2-40B4-BE49-F238E27FC236}">
                  <a16:creationId xmlns:a16="http://schemas.microsoft.com/office/drawing/2014/main" id="{0A985DC6-3935-F7C0-2F09-24C0553BC5B9}"/>
                </a:ext>
              </a:extLst>
            </p:cNvPr>
            <p:cNvSpPr/>
            <p:nvPr/>
          </p:nvSpPr>
          <p:spPr>
            <a:xfrm>
              <a:off x="2349500" y="5372100"/>
              <a:ext cx="279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1" i="0" u="none" strike="noStrike" dirty="0">
                  <a:solidFill>
                    <a:srgbClr val="26476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日期：2026年7月</a:t>
              </a:r>
              <a:endParaRPr lang="en-US" sz="1100" dirty="0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03F52D8B-90CB-8B36-2667-FB28F2FD389A}"/>
              </a:ext>
            </a:extLst>
          </p:cNvPr>
          <p:cNvGrpSpPr/>
          <p:nvPr/>
        </p:nvGrpSpPr>
        <p:grpSpPr>
          <a:xfrm>
            <a:off x="2032000" y="4889500"/>
            <a:ext cx="3606800" cy="381000"/>
            <a:chOff x="2032000" y="5372100"/>
            <a:chExt cx="3606800" cy="381000"/>
          </a:xfrm>
        </p:grpSpPr>
        <p:sp>
          <p:nvSpPr>
            <p:cNvPr id="43" name="AutoShape 24">
              <a:extLst>
                <a:ext uri="{FF2B5EF4-FFF2-40B4-BE49-F238E27FC236}">
                  <a16:creationId xmlns:a16="http://schemas.microsoft.com/office/drawing/2014/main" id="{1D1E206E-917F-3720-8282-C43CB697FDCF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4" name="AutoShape 25">
              <a:extLst>
                <a:ext uri="{FF2B5EF4-FFF2-40B4-BE49-F238E27FC236}">
                  <a16:creationId xmlns:a16="http://schemas.microsoft.com/office/drawing/2014/main" id="{2C51082F-5107-B59B-D07B-1DAEACE3FC37}"/>
                </a:ext>
              </a:extLst>
            </p:cNvPr>
            <p:cNvSpPr/>
            <p:nvPr/>
          </p:nvSpPr>
          <p:spPr>
            <a:xfrm>
              <a:off x="2349500" y="5372100"/>
              <a:ext cx="32893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26476A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项目小组：超级无敌雷霆暴龙战士组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indent="0" algn="l">
                <a:lnSpc>
                  <a:spcPct val="100000"/>
                </a:lnSpc>
                <a:defRPr/>
              </a:pPr>
              <a:endParaRPr lang="en-US" sz="1100" dirty="0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5562A04-8DEC-19BE-C667-2F177BDC991E}"/>
              </a:ext>
            </a:extLst>
          </p:cNvPr>
          <p:cNvGrpSpPr/>
          <p:nvPr/>
        </p:nvGrpSpPr>
        <p:grpSpPr>
          <a:xfrm>
            <a:off x="6553200" y="4885956"/>
            <a:ext cx="3606800" cy="381000"/>
            <a:chOff x="2032000" y="5372100"/>
            <a:chExt cx="3606800" cy="381000"/>
          </a:xfrm>
        </p:grpSpPr>
        <p:sp>
          <p:nvSpPr>
            <p:cNvPr id="46" name="AutoShape 24">
              <a:extLst>
                <a:ext uri="{FF2B5EF4-FFF2-40B4-BE49-F238E27FC236}">
                  <a16:creationId xmlns:a16="http://schemas.microsoft.com/office/drawing/2014/main" id="{ED49D314-766A-E965-D29C-58E0553E7732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25">
              <a:extLst>
                <a:ext uri="{FF2B5EF4-FFF2-40B4-BE49-F238E27FC236}">
                  <a16:creationId xmlns:a16="http://schemas.microsoft.com/office/drawing/2014/main" id="{A8F865CF-363F-7584-615D-C14A9916DA06}"/>
                </a:ext>
              </a:extLst>
            </p:cNvPr>
            <p:cNvSpPr/>
            <p:nvPr/>
          </p:nvSpPr>
          <p:spPr>
            <a:xfrm>
              <a:off x="2349500" y="5372100"/>
              <a:ext cx="32893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26476A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项目成员：钟翌，刁英东，李晨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indent="0" algn="l">
                <a:lnSpc>
                  <a:spcPct val="100000"/>
                </a:lnSpc>
                <a:defRPr/>
              </a:pPr>
              <a:endParaRPr lang="en-US" sz="1100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CD458F0-AB30-365D-CF3C-FA59EF560F33}"/>
              </a:ext>
            </a:extLst>
          </p:cNvPr>
          <p:cNvGrpSpPr/>
          <p:nvPr/>
        </p:nvGrpSpPr>
        <p:grpSpPr>
          <a:xfrm>
            <a:off x="2032000" y="5530112"/>
            <a:ext cx="3111500" cy="381000"/>
            <a:chOff x="2032000" y="5372100"/>
            <a:chExt cx="3111500" cy="381000"/>
          </a:xfrm>
        </p:grpSpPr>
        <p:sp>
          <p:nvSpPr>
            <p:cNvPr id="49" name="AutoShape 24">
              <a:extLst>
                <a:ext uri="{FF2B5EF4-FFF2-40B4-BE49-F238E27FC236}">
                  <a16:creationId xmlns:a16="http://schemas.microsoft.com/office/drawing/2014/main" id="{681FFC8B-5FEE-2BC0-881C-8DDD1E411641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0" name="AutoShape 25">
              <a:extLst>
                <a:ext uri="{FF2B5EF4-FFF2-40B4-BE49-F238E27FC236}">
                  <a16:creationId xmlns:a16="http://schemas.microsoft.com/office/drawing/2014/main" id="{39D16449-4977-7B94-FA61-415370D7AE64}"/>
                </a:ext>
              </a:extLst>
            </p:cNvPr>
            <p:cNvSpPr/>
            <p:nvPr/>
          </p:nvSpPr>
          <p:spPr>
            <a:xfrm>
              <a:off x="2349500" y="5372100"/>
              <a:ext cx="279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600" b="1" dirty="0">
                  <a:solidFill>
                    <a:srgbClr val="26476A"/>
                  </a:solidFill>
                  <a:latin typeface="Noto Sans SC"/>
                  <a:ea typeface="Noto Sans SC"/>
                  <a:sym typeface="Noto Sans SC"/>
                </a:rPr>
                <a:t>汇报人：钟翌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6"/>
          <p:cNvSpPr/>
          <p:nvPr/>
        </p:nvSpPr>
        <p:spPr>
          <a:xfrm>
            <a:off x="3839978" y="1606211"/>
            <a:ext cx="2286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实训成果概述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7085783" y="1606211"/>
            <a:ext cx="2336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项目背景介绍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3839978" y="2605819"/>
            <a:ext cx="2256022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小组成员分工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7085783" y="2637391"/>
            <a:ext cx="2573372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数据与分析维度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3835400" y="3690044"/>
            <a:ext cx="22606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结果与可视化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7085783" y="3668572"/>
            <a:ext cx="2336801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algn="ctr"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</a:t>
            </a:r>
            <a:r>
              <a:rPr lang="en-US" altLang="zh-CN" sz="2400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核心技术亮点</a:t>
            </a:r>
            <a:endParaRPr lang="en-US" sz="1100" dirty="0"/>
          </a:p>
        </p:txBody>
      </p:sp>
      <p:sp>
        <p:nvSpPr>
          <p:cNvPr id="3" name="AutoShape 26">
            <a:extLst>
              <a:ext uri="{FF2B5EF4-FFF2-40B4-BE49-F238E27FC236}">
                <a16:creationId xmlns:a16="http://schemas.microsoft.com/office/drawing/2014/main" id="{B6987F78-A293-46E1-E7B8-8420AD7C7969}"/>
              </a:ext>
            </a:extLst>
          </p:cNvPr>
          <p:cNvSpPr/>
          <p:nvPr/>
        </p:nvSpPr>
        <p:spPr>
          <a:xfrm>
            <a:off x="3839387" y="4689652"/>
            <a:ext cx="2555653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07 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经验与实训心得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AutoShape 11">
            <a:extLst>
              <a:ext uri="{FF2B5EF4-FFF2-40B4-BE49-F238E27FC236}">
                <a16:creationId xmlns:a16="http://schemas.microsoft.com/office/drawing/2014/main" id="{EA09E8A2-0FDA-41AD-72E5-69300A796A9C}"/>
              </a:ext>
            </a:extLst>
          </p:cNvPr>
          <p:cNvSpPr/>
          <p:nvPr/>
        </p:nvSpPr>
        <p:spPr>
          <a:xfrm>
            <a:off x="4197799" y="698500"/>
            <a:ext cx="3830533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两周实训学习成果总览</a:t>
            </a:r>
            <a:endParaRPr lang="en-US" sz="1100" dirty="0"/>
          </a:p>
        </p:txBody>
      </p:sp>
      <p:sp>
        <p:nvSpPr>
          <p:cNvPr id="101" name="AutoShape 67">
            <a:extLst>
              <a:ext uri="{FF2B5EF4-FFF2-40B4-BE49-F238E27FC236}">
                <a16:creationId xmlns:a16="http://schemas.microsoft.com/office/drawing/2014/main" id="{E655E885-5204-BB0A-4918-672B3E511ED4}"/>
              </a:ext>
            </a:extLst>
          </p:cNvPr>
          <p:cNvSpPr/>
          <p:nvPr/>
        </p:nvSpPr>
        <p:spPr>
          <a:xfrm>
            <a:off x="794200" y="3860800"/>
            <a:ext cx="2342412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>
                <a:solidFill>
                  <a:srgbClr val="4A66AC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4A66AC"/>
                </a:solidFill>
                <a:latin typeface="Noto Sans SC"/>
                <a:ea typeface="Noto Sans SC"/>
                <a:cs typeface="Noto Sans SC"/>
                <a:sym typeface="Noto Sans SC"/>
              </a:rPr>
              <a:t>Python基础</a:t>
            </a:r>
            <a:endParaRPr lang="en-US" sz="1100" dirty="0"/>
          </a:p>
        </p:txBody>
      </p:sp>
      <p:sp>
        <p:nvSpPr>
          <p:cNvPr id="103" name="AutoShape 68">
            <a:extLst>
              <a:ext uri="{FF2B5EF4-FFF2-40B4-BE49-F238E27FC236}">
                <a16:creationId xmlns:a16="http://schemas.microsoft.com/office/drawing/2014/main" id="{B1977FAD-D24A-314D-15AA-BC6E08FD288E}"/>
              </a:ext>
            </a:extLst>
          </p:cNvPr>
          <p:cNvSpPr/>
          <p:nvPr/>
        </p:nvSpPr>
        <p:spPr>
          <a:xfrm>
            <a:off x="794200" y="4254500"/>
            <a:ext cx="234241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语法基础 · 数据类型 · 条件判断 · 循环遍历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函数与模块 · 文件读写 · 面向对象 · 异常处理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完成：学生成绩管理系统 · 数学计算器 · 堆栈小游戏</a:t>
            </a:r>
          </a:p>
          <a:p>
            <a:pPr>
              <a:buNone/>
            </a:pPr>
            <a:br>
              <a:rPr lang="zh-CN" altLang="zh-CN" sz="1200" dirty="0"/>
            </a:br>
            <a:endParaRPr lang="en-US" sz="1100" dirty="0"/>
          </a:p>
        </p:txBody>
      </p:sp>
      <p:sp>
        <p:nvSpPr>
          <p:cNvPr id="105" name="AutoShape 69">
            <a:extLst>
              <a:ext uri="{FF2B5EF4-FFF2-40B4-BE49-F238E27FC236}">
                <a16:creationId xmlns:a16="http://schemas.microsoft.com/office/drawing/2014/main" id="{87BE7462-11AA-CEB1-F90D-8DD12C55D33C}"/>
              </a:ext>
            </a:extLst>
          </p:cNvPr>
          <p:cNvSpPr/>
          <p:nvPr/>
        </p:nvSpPr>
        <p:spPr>
          <a:xfrm>
            <a:off x="3512000" y="3860800"/>
            <a:ext cx="2342412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>
                <a:solidFill>
                  <a:srgbClr val="629DD1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2000" b="1" i="0" u="none" strike="noStrike" dirty="0" err="1">
                <a:solidFill>
                  <a:srgbClr val="629DD1"/>
                </a:solidFill>
                <a:latin typeface="Noto Sans SC"/>
                <a:ea typeface="Noto Sans SC"/>
                <a:cs typeface="Noto Sans SC"/>
                <a:sym typeface="Noto Sans SC"/>
              </a:rPr>
              <a:t>Python进阶</a:t>
            </a:r>
            <a:endParaRPr lang="en-US" sz="1100" dirty="0"/>
          </a:p>
        </p:txBody>
      </p:sp>
      <p:sp>
        <p:nvSpPr>
          <p:cNvPr id="107" name="AutoShape 70">
            <a:extLst>
              <a:ext uri="{FF2B5EF4-FFF2-40B4-BE49-F238E27FC236}">
                <a16:creationId xmlns:a16="http://schemas.microsoft.com/office/drawing/2014/main" id="{2A779C6A-5F10-D6DC-31F4-F79AD585BEC6}"/>
              </a:ext>
            </a:extLst>
          </p:cNvPr>
          <p:cNvSpPr/>
          <p:nvPr/>
        </p:nvSpPr>
        <p:spPr>
          <a:xfrm>
            <a:off x="3512000" y="4254500"/>
            <a:ext cx="234241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装饰器 · 推导式 · 迭代器 · 生成器 · 函数式编程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完成：课程资料整理器（命令行工具）</a:t>
            </a:r>
          </a:p>
          <a:p>
            <a:pPr marL="0" indent="0" algn="ctr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09" name="AutoShape 71">
            <a:extLst>
              <a:ext uri="{FF2B5EF4-FFF2-40B4-BE49-F238E27FC236}">
                <a16:creationId xmlns:a16="http://schemas.microsoft.com/office/drawing/2014/main" id="{35D71FFA-2D87-B2FC-200D-E604C6F3797F}"/>
              </a:ext>
            </a:extLst>
          </p:cNvPr>
          <p:cNvSpPr/>
          <p:nvPr/>
        </p:nvSpPr>
        <p:spPr>
          <a:xfrm>
            <a:off x="6229800" y="3860800"/>
            <a:ext cx="2342412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>
                <a:solidFill>
                  <a:srgbClr val="297FD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297FD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数据分析核心库</a:t>
            </a:r>
            <a:endParaRPr lang="en-US" sz="1100" dirty="0"/>
          </a:p>
        </p:txBody>
      </p:sp>
      <p:sp>
        <p:nvSpPr>
          <p:cNvPr id="111" name="AutoShape 72">
            <a:extLst>
              <a:ext uri="{FF2B5EF4-FFF2-40B4-BE49-F238E27FC236}">
                <a16:creationId xmlns:a16="http://schemas.microsoft.com/office/drawing/2014/main" id="{03E1F7A6-0999-785E-8863-0232353E08D2}"/>
              </a:ext>
            </a:extLst>
          </p:cNvPr>
          <p:cNvSpPr/>
          <p:nvPr/>
        </p:nvSpPr>
        <p:spPr>
          <a:xfrm>
            <a:off x="6229800" y="4254500"/>
            <a:ext cx="234241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NumPy（向量化计算）· Pandas（数据处理）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Matplotlib/Seaborn（可视化）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完成：NumPy数组练习 · Pandas数据清洗练习</a:t>
            </a:r>
          </a:p>
          <a:p>
            <a:pPr>
              <a:buNone/>
            </a:pPr>
            <a:br>
              <a:rPr lang="zh-CN" altLang="zh-CN" sz="1200" dirty="0"/>
            </a:br>
            <a:endParaRPr lang="en-US" sz="1100" dirty="0"/>
          </a:p>
        </p:txBody>
      </p:sp>
      <p:sp>
        <p:nvSpPr>
          <p:cNvPr id="113" name="AutoShape 73">
            <a:extLst>
              <a:ext uri="{FF2B5EF4-FFF2-40B4-BE49-F238E27FC236}">
                <a16:creationId xmlns:a16="http://schemas.microsoft.com/office/drawing/2014/main" id="{08D2363C-2E8E-5E92-C60E-C7F3B4351C50}"/>
              </a:ext>
            </a:extLst>
          </p:cNvPr>
          <p:cNvSpPr/>
          <p:nvPr/>
        </p:nvSpPr>
        <p:spPr>
          <a:xfrm>
            <a:off x="8985700" y="3860800"/>
            <a:ext cx="2342412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7F8FA9"/>
                </a:solidFill>
                <a:latin typeface="Noto Sans SC"/>
                <a:ea typeface="Noto Sans SC"/>
                <a:cs typeface="Noto Sans SC"/>
                <a:sym typeface="Noto Sans SC"/>
              </a:rPr>
              <a:t>04 数据采集与实战</a:t>
            </a:r>
            <a:endParaRPr lang="en-US" sz="1100"/>
          </a:p>
        </p:txBody>
      </p:sp>
      <p:sp>
        <p:nvSpPr>
          <p:cNvPr id="115" name="AutoShape 74">
            <a:extLst>
              <a:ext uri="{FF2B5EF4-FFF2-40B4-BE49-F238E27FC236}">
                <a16:creationId xmlns:a16="http://schemas.microsoft.com/office/drawing/2014/main" id="{13A64294-3E6F-86D3-B0D2-5F04CD2219AF}"/>
              </a:ext>
            </a:extLst>
          </p:cNvPr>
          <p:cNvSpPr/>
          <p:nvPr/>
        </p:nvSpPr>
        <p:spPr>
          <a:xfrm>
            <a:off x="8985700" y="4254500"/>
            <a:ext cx="234241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Requests · BeautifulSoup · XPath · Selenium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完成：音乐专辑数据分析（10万+条，5个任务，5张图表）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AutoShape 24">
            <a:extLst>
              <a:ext uri="{FF2B5EF4-FFF2-40B4-BE49-F238E27FC236}">
                <a16:creationId xmlns:a16="http://schemas.microsoft.com/office/drawing/2014/main" id="{7F2580B3-33BB-5ABD-EE2A-5AF633AE6F16}"/>
              </a:ext>
            </a:extLst>
          </p:cNvPr>
          <p:cNvSpPr/>
          <p:nvPr/>
        </p:nvSpPr>
        <p:spPr>
          <a:xfrm>
            <a:off x="1524000" y="3931387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多维数组创建与形状变换 · 矢量化运算与广播机制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聚合统计与矩阵线性代数运算</a:t>
            </a:r>
          </a:p>
        </p:txBody>
      </p:sp>
      <p:sp>
        <p:nvSpPr>
          <p:cNvPr id="57" name="AutoShape 25">
            <a:extLst>
              <a:ext uri="{FF2B5EF4-FFF2-40B4-BE49-F238E27FC236}">
                <a16:creationId xmlns:a16="http://schemas.microsoft.com/office/drawing/2014/main" id="{8042C8D9-E5F8-0A41-D1BA-E53F845AAB65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01 NumPy</a:t>
            </a:r>
            <a:endParaRPr lang="en-US" sz="1100" dirty="0"/>
          </a:p>
          <a:p>
            <a:pPr marL="0" indent="0" algn="ctr">
              <a:lnSpc>
                <a:spcPct val="100000"/>
              </a:lnSpc>
            </a:pPr>
            <a:r>
              <a:rPr lang="en-US" sz="16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数值计算基础</a:t>
            </a: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9" name="AutoShape 26">
            <a:extLst>
              <a:ext uri="{FF2B5EF4-FFF2-40B4-BE49-F238E27FC236}">
                <a16:creationId xmlns:a16="http://schemas.microsoft.com/office/drawing/2014/main" id="{B5C0A44A-14CE-713E-0F7E-ABC7523C6ED7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02 Pandas</a:t>
            </a:r>
            <a:endParaRPr lang="en-US" sz="1100" dirty="0"/>
          </a:p>
          <a:p>
            <a:pPr marL="0" indent="0" algn="ctr">
              <a:lnSpc>
                <a:spcPct val="100000"/>
              </a:lnSpc>
            </a:pPr>
            <a:r>
              <a:rPr lang="en-US" sz="16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数据处理核心</a:t>
            </a: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1" name="AutoShape 27">
            <a:extLst>
              <a:ext uri="{FF2B5EF4-FFF2-40B4-BE49-F238E27FC236}">
                <a16:creationId xmlns:a16="http://schemas.microsoft.com/office/drawing/2014/main" id="{180A06D1-7E79-6B02-D4AB-D3ADE2B9F62E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数据可视化</a:t>
            </a:r>
            <a:endParaRPr lang="en-US" sz="1100" dirty="0"/>
          </a:p>
          <a:p>
            <a:pPr marL="0" indent="0" algn="ctr">
              <a:lnSpc>
                <a:spcPct val="100000"/>
              </a:lnSpc>
            </a:pPr>
            <a:r>
              <a:rPr lang="en-US" sz="16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Matplotlib/Seaborn</a:t>
            </a:r>
          </a:p>
        </p:txBody>
      </p:sp>
      <p:sp>
        <p:nvSpPr>
          <p:cNvPr id="63" name="AutoShape 28">
            <a:extLst>
              <a:ext uri="{FF2B5EF4-FFF2-40B4-BE49-F238E27FC236}">
                <a16:creationId xmlns:a16="http://schemas.microsoft.com/office/drawing/2014/main" id="{EC06D0B1-C41F-292E-8C73-83D58B1E3642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实战案例</a:t>
            </a:r>
            <a:endParaRPr lang="en-US" sz="1100" dirty="0"/>
          </a:p>
          <a:p>
            <a:pPr marL="0" indent="0" algn="ctr">
              <a:lnSpc>
                <a:spcPct val="100000"/>
              </a:lnSpc>
            </a:pPr>
            <a:r>
              <a:rPr lang="en-US" sz="16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综合应用巩固</a:t>
            </a: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5" name="AutoShape 29">
            <a:extLst>
              <a:ext uri="{FF2B5EF4-FFF2-40B4-BE49-F238E27FC236}">
                <a16:creationId xmlns:a16="http://schemas.microsoft.com/office/drawing/2014/main" id="{7F3E228F-429B-818B-C0BA-F425C7C0D3D6}"/>
              </a:ext>
            </a:extLst>
          </p:cNvPr>
          <p:cNvSpPr/>
          <p:nvPr/>
        </p:nvSpPr>
        <p:spPr>
          <a:xfrm>
            <a:off x="3987800" y="3956787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Series与DataFrame操作 · 数据读取与清洗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分组聚合（groupby+agg）· 多级索引与unstack透视</a:t>
            </a:r>
          </a:p>
        </p:txBody>
      </p:sp>
      <p:sp>
        <p:nvSpPr>
          <p:cNvPr id="67" name="AutoShape 31">
            <a:extLst>
              <a:ext uri="{FF2B5EF4-FFF2-40B4-BE49-F238E27FC236}">
                <a16:creationId xmlns:a16="http://schemas.microsoft.com/office/drawing/2014/main" id="{ECF42C52-B4B0-F826-D2CB-59E64EC2F6E3}"/>
              </a:ext>
            </a:extLst>
          </p:cNvPr>
          <p:cNvSpPr/>
          <p:nvPr/>
        </p:nvSpPr>
        <p:spPr>
          <a:xfrm>
            <a:off x="6426200" y="3944087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柱状图 · 折线图 · 双轴图（twinx）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分组柱状图 · 多折线叠加 · 图表美化与保存</a:t>
            </a:r>
          </a:p>
        </p:txBody>
      </p:sp>
      <p:sp>
        <p:nvSpPr>
          <p:cNvPr id="69" name="AutoShape 32">
            <a:extLst>
              <a:ext uri="{FF2B5EF4-FFF2-40B4-BE49-F238E27FC236}">
                <a16:creationId xmlns:a16="http://schemas.microsoft.com/office/drawing/2014/main" id="{7F8FA0CC-F0F2-04CA-0BC1-BE4D6223EA58}"/>
              </a:ext>
            </a:extLst>
          </p:cNvPr>
          <p:cNvSpPr/>
          <p:nvPr/>
        </p:nvSpPr>
        <p:spPr>
          <a:xfrm>
            <a:off x="8915400" y="3956787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NumPy数组实操 · Pandas数据清洗练习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音乐专辑数据分析项目（5个任务，5张图表）</a:t>
            </a:r>
          </a:p>
        </p:txBody>
      </p:sp>
      <p:sp>
        <p:nvSpPr>
          <p:cNvPr id="71" name="AutoShape 53">
            <a:extLst>
              <a:ext uri="{FF2B5EF4-FFF2-40B4-BE49-F238E27FC236}">
                <a16:creationId xmlns:a16="http://schemas.microsoft.com/office/drawing/2014/main" id="{5AD58245-C10B-0E45-2E41-A0A4A93D8A55}"/>
              </a:ext>
            </a:extLst>
          </p:cNvPr>
          <p:cNvSpPr/>
          <p:nvPr/>
        </p:nvSpPr>
        <p:spPr>
          <a:xfrm>
            <a:off x="4700476" y="682552"/>
            <a:ext cx="2791047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数据分析核心库学习成果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utoShape 37">
            <a:extLst>
              <a:ext uri="{FF2B5EF4-FFF2-40B4-BE49-F238E27FC236}">
                <a16:creationId xmlns:a16="http://schemas.microsoft.com/office/drawing/2014/main" id="{6DB88ACC-E171-6BD7-1801-879035991015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音乐行业是典型的数据密集型领域，每年产出海量专辑信息、销量数据与专业/大众评分。这些数据沉淀着市场偏好、行业趋势与艺术价值的关联，通过系统化的数据分析，能够从繁杂信息中剥离出有价值的规律，为理解行业生态提供客观依据。</a:t>
            </a:r>
            <a:endParaRPr lang="en-US" sz="1100"/>
          </a:p>
        </p:txBody>
      </p:sp>
      <p:sp>
        <p:nvSpPr>
          <p:cNvPr id="46" name="AutoShape 38">
            <a:extLst>
              <a:ext uri="{FF2B5EF4-FFF2-40B4-BE49-F238E27FC236}">
                <a16:creationId xmlns:a16="http://schemas.microsoft.com/office/drawing/2014/main" id="{59E75596-5C95-F14F-8AF6-D50C3C06850F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次分析将围绕四大核心问题展开：探究各音乐类型的专辑发行数量差异；对比不同流派的市场销量表现；梳理近20年音乐行业的发展脉络与风格演变趋势；以及分析专业评分与大众口碑在不同品类中的表现异同。</a:t>
            </a:r>
            <a:endParaRPr lang="en-US" sz="1100" dirty="0"/>
          </a:p>
        </p:txBody>
      </p:sp>
      <p:sp>
        <p:nvSpPr>
          <p:cNvPr id="48" name="AutoShape 39">
            <a:extLst>
              <a:ext uri="{FF2B5EF4-FFF2-40B4-BE49-F238E27FC236}">
                <a16:creationId xmlns:a16="http://schemas.microsoft.com/office/drawing/2014/main" id="{189DE27E-5DBE-D05B-BF83-FF62084687A3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分析目标是通过多维度的数据挖掘与交叉验证，量化呈现音乐市场的格局特征，揭示行业发展的关键驱动因素与潜在趋势，用客观数据还原音乐产业的发展逻辑，为行业洞察与相关决策提供坚实的数据支撑。</a:t>
            </a:r>
            <a:endParaRPr lang="en-US" sz="1100" dirty="0"/>
          </a:p>
        </p:txBody>
      </p:sp>
      <p:sp>
        <p:nvSpPr>
          <p:cNvPr id="50" name="AutoShape 42">
            <a:extLst>
              <a:ext uri="{FF2B5EF4-FFF2-40B4-BE49-F238E27FC236}">
                <a16:creationId xmlns:a16="http://schemas.microsoft.com/office/drawing/2014/main" id="{B6F73C20-F213-5F2C-C259-F14E36740070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项目背景：为何分析音乐行业</a:t>
            </a:r>
            <a:r>
              <a:rPr lang="en-US" sz="2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13">
            <a:extLst>
              <a:ext uri="{FF2B5EF4-FFF2-40B4-BE49-F238E27FC236}">
                <a16:creationId xmlns:a16="http://schemas.microsoft.com/office/drawing/2014/main" id="{BAB603C9-0F0E-238C-E3BB-5CE6F1E65C95}"/>
              </a:ext>
            </a:extLst>
          </p:cNvPr>
          <p:cNvSpPr/>
          <p:nvPr/>
        </p:nvSpPr>
        <p:spPr>
          <a:xfrm>
            <a:off x="1905000" y="1761465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2000" b="1" i="0" u="none" strike="noStrike" spc="100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项目全流程</a:t>
            </a:r>
            <a:r>
              <a:rPr lang="zh-CN" altLang="en-US" sz="2000" b="1" spc="100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分工合作</a:t>
            </a:r>
            <a:endParaRPr lang="en-US" sz="1100" dirty="0"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556E88E2-FFA3-F727-21E5-6FD4C4431065}"/>
              </a:ext>
            </a:extLst>
          </p:cNvPr>
          <p:cNvSpPr/>
          <p:nvPr/>
        </p:nvSpPr>
        <p:spPr>
          <a:xfrm>
            <a:off x="1257300" y="2037028"/>
            <a:ext cx="3987800" cy="34546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i="0" u="none" strike="noStrike" spc="100" dirty="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本项目由3</a:t>
            </a:r>
            <a:r>
              <a:rPr lang="zh-CN" altLang="en-US" sz="1600" b="0" i="0" u="none" strike="noStrike" spc="100" dirty="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人小组合作</a:t>
            </a:r>
            <a:r>
              <a:rPr lang="en-US" sz="1600" b="0" i="0" u="none" strike="noStrike" spc="100" dirty="0" err="1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完成全流程开发</a:t>
            </a:r>
            <a:endParaRPr lang="en-US" sz="1600" b="0" i="0" u="none" strike="noStrike" spc="100" dirty="0">
              <a:solidFill>
                <a:srgbClr val="26262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钟翌：数据清洗 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· 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缺失值与异常值处理</a:t>
            </a:r>
            <a:endParaRPr lang="en-US" altLang="zh-CN" sz="1600" spc="100" dirty="0">
              <a:solidFill>
                <a:srgbClr val="262626"/>
              </a:solidFill>
              <a:latin typeface="Noto Sans SC"/>
              <a:ea typeface="Noto Sans SC"/>
              <a:sym typeface="Noto Sans SC"/>
            </a:endParaRPr>
          </a:p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刁英东：任务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1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、任务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2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代码实现 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· 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数据处理与清洗</a:t>
            </a:r>
            <a:endParaRPr lang="en-US" altLang="zh-CN" sz="1600" spc="100" dirty="0">
              <a:solidFill>
                <a:srgbClr val="262626"/>
              </a:solidFill>
              <a:latin typeface="Noto Sans SC"/>
              <a:ea typeface="Noto Sans SC"/>
              <a:sym typeface="Noto Sans SC"/>
            </a:endParaRPr>
          </a:p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李晨：任务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3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、任务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4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、任务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5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可视化图表绘制</a:t>
            </a:r>
            <a:endParaRPr lang="en-US" altLang="zh-CN" sz="1600" spc="100" dirty="0">
              <a:solidFill>
                <a:srgbClr val="262626"/>
              </a:solidFill>
              <a:latin typeface="Noto Sans SC"/>
              <a:ea typeface="Noto Sans SC"/>
              <a:sym typeface="Noto Sans SC"/>
            </a:endParaRPr>
          </a:p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</a:rPr>
              <a:t>合作方式：</a:t>
            </a:r>
          </a:p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</a:rPr>
              <a:t>代码整合与联调 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</a:rPr>
              <a:t>· 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</a:rPr>
              <a:t>共同完成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</a:rPr>
              <a:t>PPT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</a:rPr>
              <a:t>与答辩准备</a:t>
            </a:r>
            <a:endParaRPr lang="en-US" sz="1600" spc="100" dirty="0">
              <a:solidFill>
                <a:srgbClr val="262626"/>
              </a:solidFill>
              <a:latin typeface="Noto Sans SC"/>
              <a:ea typeface="Noto Sans SC"/>
            </a:endParaRPr>
          </a:p>
        </p:txBody>
      </p:sp>
      <p:sp>
        <p:nvSpPr>
          <p:cNvPr id="27" name="AutoShape 17">
            <a:extLst>
              <a:ext uri="{FF2B5EF4-FFF2-40B4-BE49-F238E27FC236}">
                <a16:creationId xmlns:a16="http://schemas.microsoft.com/office/drawing/2014/main" id="{36EA3104-2C73-8D6C-6646-121C08ADBEFC}"/>
              </a:ext>
            </a:extLst>
          </p:cNvPr>
          <p:cNvSpPr/>
          <p:nvPr/>
        </p:nvSpPr>
        <p:spPr>
          <a:xfrm>
            <a:off x="7543800" y="1761465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2000" b="1" i="0" u="none" strike="noStrike" spc="100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关键阶段与技能应用</a:t>
            </a:r>
            <a:endParaRPr lang="en-US" sz="1100" dirty="0"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F7872B4-0BC9-B5B0-B54D-9839CDA925D8}"/>
              </a:ext>
            </a:extLst>
          </p:cNvPr>
          <p:cNvSpPr/>
          <p:nvPr/>
        </p:nvSpPr>
        <p:spPr>
          <a:xfrm>
            <a:off x="6896100" y="2037028"/>
            <a:ext cx="3987800" cy="34546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i="0" u="none" strike="noStrike" spc="100" dirty="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分为数据准备、清洗处理、代码开发、可视化与报告撰写五大核心阶段。熟练运用Pandas完成数据探索与清洗，基于NumPy实现高效数值计算，通过Matplotlib与Seaborn打造多维度可视化图表，实现数据价值的深度挖掘与直观传递。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在技术落地中，重点攻克数据清洗的异常值处理与多表关联难题，实现分析脚本的模块化与可复用性。最终产出5张高质量可视化图表，精准呈现数据特征与分析结论，并以严谨的逻辑梳理项目过程，形成完整的成果报告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思源黑体 CN Regular"/>
              <a:cs typeface="+mn-cs"/>
            </a:endParaRPr>
          </a:p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5" name="AutoShape 21">
            <a:extLst>
              <a:ext uri="{FF2B5EF4-FFF2-40B4-BE49-F238E27FC236}">
                <a16:creationId xmlns:a16="http://schemas.microsoft.com/office/drawing/2014/main" id="{6E56344C-A705-77F2-D95B-4BF5E406B283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团队协作与分工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utoShape 15">
            <a:extLst>
              <a:ext uri="{FF2B5EF4-FFF2-40B4-BE49-F238E27FC236}">
                <a16:creationId xmlns:a16="http://schemas.microsoft.com/office/drawing/2014/main" id="{7985AF0F-14DF-8628-66BB-B047986BD85E}"/>
              </a:ext>
            </a:extLst>
          </p:cNvPr>
          <p:cNvSpPr/>
          <p:nvPr/>
        </p:nvSpPr>
        <p:spPr>
          <a:xfrm>
            <a:off x="4817508" y="3429000"/>
            <a:ext cx="2556983" cy="78444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2000" b="1" i="0" u="none" strike="noStrike" dirty="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 数据来源与技术方案</a:t>
            </a:r>
            <a:endParaRPr lang="en-US" sz="1100" dirty="0"/>
          </a:p>
        </p:txBody>
      </p:sp>
      <p:sp>
        <p:nvSpPr>
          <p:cNvPr id="41" name="AutoShape 33">
            <a:extLst>
              <a:ext uri="{FF2B5EF4-FFF2-40B4-BE49-F238E27FC236}">
                <a16:creationId xmlns:a16="http://schemas.microsoft.com/office/drawing/2014/main" id="{F81AE7D5-02F4-C710-3CB8-4DDA4572A91C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4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基于Kaggle公开数据集albums.csv，收录全球范围内超10万条音乐专辑记录，数据覆盖多语种、多地区，具备广泛的代表性与研究价值。</a:t>
            </a:r>
          </a:p>
        </p:txBody>
      </p:sp>
      <p:sp>
        <p:nvSpPr>
          <p:cNvPr id="43" name="AutoShape 34">
            <a:extLst>
              <a:ext uri="{FF2B5EF4-FFF2-40B4-BE49-F238E27FC236}">
                <a16:creationId xmlns:a16="http://schemas.microsoft.com/office/drawing/2014/main" id="{653AB62A-84E0-9EEF-6ABC-487993359F43}"/>
              </a:ext>
            </a:extLst>
          </p:cNvPr>
          <p:cNvSpPr/>
          <p:nvPr/>
        </p:nvSpPr>
        <p:spPr>
          <a:xfrm>
            <a:off x="1435100" y="3898901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14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多维分析视角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涵盖流派数量统计、销量排行对比、近20年发行趋势，同时深挖头部流派的年份演变规律及用户评分差异，全方位解析音乐市场特征。</a:t>
            </a:r>
          </a:p>
        </p:txBody>
      </p:sp>
      <p:sp>
        <p:nvSpPr>
          <p:cNvPr id="45" name="AutoShape 35">
            <a:extLst>
              <a:ext uri="{FF2B5EF4-FFF2-40B4-BE49-F238E27FC236}">
                <a16:creationId xmlns:a16="http://schemas.microsoft.com/office/drawing/2014/main" id="{48A6C49E-2496-6AC9-0F67-93A0A5CFC275}"/>
              </a:ext>
            </a:extLst>
          </p:cNvPr>
          <p:cNvSpPr/>
          <p:nvPr/>
        </p:nvSpPr>
        <p:spPr>
          <a:xfrm>
            <a:off x="8039100" y="3898901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04 技术实现架构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以Python为核心，利用Pandas进行高效的数据清洗与结构化处理，结合Matplotlib与Seaborn实现直观可视化，NumPy保障数值运算的高效性。</a:t>
            </a:r>
          </a:p>
        </p:txBody>
      </p:sp>
      <p:sp>
        <p:nvSpPr>
          <p:cNvPr id="47" name="AutoShape 36">
            <a:extLst>
              <a:ext uri="{FF2B5EF4-FFF2-40B4-BE49-F238E27FC236}">
                <a16:creationId xmlns:a16="http://schemas.microsoft.com/office/drawing/2014/main" id="{CA9FE783-82C2-2634-D78E-9C0C1C23C05C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4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核心数据字段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筛选genre（音乐流派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）、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year_of_pub（发行年份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）、num_of_sales（专辑销量）等7个关键指标，覆盖专辑的基础属性、商业表现与时间维度。</a:t>
            </a:r>
          </a:p>
        </p:txBody>
      </p:sp>
      <p:sp>
        <p:nvSpPr>
          <p:cNvPr id="49" name="AutoShape 37">
            <a:extLst>
              <a:ext uri="{FF2B5EF4-FFF2-40B4-BE49-F238E27FC236}">
                <a16:creationId xmlns:a16="http://schemas.microsoft.com/office/drawing/2014/main" id="{6A8D435F-0EC8-738E-B483-78026DA33AD5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数据来源与技术方案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utoShape 44">
            <a:extLst>
              <a:ext uri="{FF2B5EF4-FFF2-40B4-BE49-F238E27FC236}">
                <a16:creationId xmlns:a16="http://schemas.microsoft.com/office/drawing/2014/main" id="{44B1853E-8CF5-63D4-6D1F-E664D27B81FA}"/>
              </a:ext>
            </a:extLst>
          </p:cNvPr>
          <p:cNvSpPr/>
          <p:nvPr/>
        </p:nvSpPr>
        <p:spPr>
          <a:xfrm>
            <a:off x="6400800" y="1208112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5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任务一：各类型专辑数量统计</a:t>
            </a:r>
            <a:br>
              <a:rPr lang="en-US" sz="1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</a:t>
            </a:r>
            <a:r>
              <a:rPr lang="en-US" altLang="zh-CN" sz="1400" b="0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value_counts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() </a:t>
            </a: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统计各音乐类型的专辑发行量，绘制柱状图</a:t>
            </a:r>
          </a:p>
        </p:txBody>
      </p:sp>
      <p:sp>
        <p:nvSpPr>
          <p:cNvPr id="52" name="AutoShape 45">
            <a:extLst>
              <a:ext uri="{FF2B5EF4-FFF2-40B4-BE49-F238E27FC236}">
                <a16:creationId xmlns:a16="http://schemas.microsoft.com/office/drawing/2014/main" id="{BC2EE69F-901B-B5EC-3003-3FEDF70F6997}"/>
              </a:ext>
            </a:extLst>
          </p:cNvPr>
          <p:cNvSpPr/>
          <p:nvPr/>
        </p:nvSpPr>
        <p:spPr>
          <a:xfrm>
            <a:off x="6419939" y="217081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5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任务二：各类型专辑销量统计</a:t>
            </a:r>
          </a:p>
          <a:p>
            <a:pPr marL="0" indent="0" algn="l">
              <a:lnSpc>
                <a:spcPct val="116666"/>
              </a:lnSpc>
              <a:defRPr/>
            </a:pPr>
            <a:r>
              <a:rPr lang="zh-CN" altLang="en-US" sz="1400" dirty="0">
                <a:solidFill>
                  <a:srgbClr val="595959"/>
                </a:solidFill>
                <a:latin typeface="Noto Sans SC"/>
                <a:ea typeface="Noto Sans SC"/>
                <a:sym typeface="Noto Sans SC"/>
              </a:rPr>
              <a:t>使用 </a:t>
            </a:r>
            <a:r>
              <a:rPr lang="en-US" altLang="zh-CN" sz="1400" dirty="0" err="1">
                <a:solidFill>
                  <a:srgbClr val="595959"/>
                </a:solidFill>
                <a:latin typeface="Noto Sans SC"/>
                <a:ea typeface="Noto Sans SC"/>
                <a:sym typeface="Noto Sans SC"/>
              </a:rPr>
              <a:t>groupby</a:t>
            </a:r>
            <a:r>
              <a:rPr lang="en-US" altLang="zh-CN" sz="1400" dirty="0">
                <a:solidFill>
                  <a:srgbClr val="595959"/>
                </a:solidFill>
                <a:latin typeface="Noto Sans SC"/>
                <a:ea typeface="Noto Sans SC"/>
                <a:sym typeface="Noto Sans SC"/>
              </a:rPr>
              <a:t>().sum() </a:t>
            </a:r>
            <a:r>
              <a:rPr lang="zh-CN" altLang="en-US" sz="1400" dirty="0">
                <a:solidFill>
                  <a:srgbClr val="595959"/>
                </a:solidFill>
                <a:latin typeface="Noto Sans SC"/>
                <a:ea typeface="Noto Sans SC"/>
                <a:sym typeface="Noto Sans SC"/>
              </a:rPr>
              <a:t>计算各类型销量总和，绘制柱状图</a:t>
            </a:r>
            <a:endParaRPr lang="en-US" sz="1400" dirty="0">
              <a:solidFill>
                <a:srgbClr val="595959"/>
              </a:solidFill>
              <a:latin typeface="Noto Sans SC"/>
              <a:ea typeface="Noto Sans SC"/>
            </a:endParaRPr>
          </a:p>
        </p:txBody>
      </p:sp>
      <p:sp>
        <p:nvSpPr>
          <p:cNvPr id="54" name="AutoShape 46">
            <a:extLst>
              <a:ext uri="{FF2B5EF4-FFF2-40B4-BE49-F238E27FC236}">
                <a16:creationId xmlns:a16="http://schemas.microsoft.com/office/drawing/2014/main" id="{292D25E7-A01C-7EA3-45CE-D63B35A2BF25}"/>
              </a:ext>
            </a:extLst>
          </p:cNvPr>
          <p:cNvSpPr/>
          <p:nvPr/>
        </p:nvSpPr>
        <p:spPr>
          <a:xfrm>
            <a:off x="6438900" y="3056411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5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任务三：近</a:t>
            </a:r>
            <a:r>
              <a:rPr lang="en-US" altLang="zh-CN" sz="15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20</a:t>
            </a:r>
            <a:r>
              <a:rPr lang="zh-CN" altLang="en-US" sz="15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年专辑与单曲数量趋势</a:t>
            </a:r>
            <a:br>
              <a:rPr lang="en-US" sz="1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</a:t>
            </a:r>
            <a:r>
              <a:rPr lang="en-US" altLang="zh-CN" sz="1400" b="0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groupby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().</a:t>
            </a:r>
            <a:r>
              <a:rPr lang="en-US" altLang="zh-CN" sz="1400" b="0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agg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() </a:t>
            </a: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统计每年发行量，双轴图展示柱状图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折线图</a:t>
            </a:r>
            <a:endParaRPr lang="en-US" sz="1100" dirty="0"/>
          </a:p>
        </p:txBody>
      </p:sp>
      <p:sp>
        <p:nvSpPr>
          <p:cNvPr id="56" name="AutoShape 47">
            <a:extLst>
              <a:ext uri="{FF2B5EF4-FFF2-40B4-BE49-F238E27FC236}">
                <a16:creationId xmlns:a16="http://schemas.microsoft.com/office/drawing/2014/main" id="{EDFD0CAC-13CD-918C-F5D3-C7DC493B8D9E}"/>
              </a:ext>
            </a:extLst>
          </p:cNvPr>
          <p:cNvSpPr/>
          <p:nvPr/>
        </p:nvSpPr>
        <p:spPr>
          <a:xfrm>
            <a:off x="6438722" y="3986547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5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任务四：前五类型各年份销量趋势</a:t>
            </a:r>
            <a:br>
              <a:rPr lang="en-US" sz="1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筛选销量前五类型，使用 </a:t>
            </a:r>
            <a:r>
              <a:rPr lang="en-US" altLang="zh-CN" sz="1400" b="0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groupby</a:t>
            </a:r>
            <a:r>
              <a:rPr lang="en-US" altLang="zh-CN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 + unstack() </a:t>
            </a: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透视，绘制多折线图</a:t>
            </a:r>
            <a:endParaRPr lang="en-US" sz="1100" dirty="0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F8A7A475-9448-B460-2B1B-18B17BF36A7C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2800" b="1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五个分析任务</a:t>
            </a:r>
            <a:endParaRPr lang="en-US" sz="1100" dirty="0"/>
          </a:p>
        </p:txBody>
      </p:sp>
      <p:sp>
        <p:nvSpPr>
          <p:cNvPr id="3" name="AutoShape 47">
            <a:extLst>
              <a:ext uri="{FF2B5EF4-FFF2-40B4-BE49-F238E27FC236}">
                <a16:creationId xmlns:a16="http://schemas.microsoft.com/office/drawing/2014/main" id="{2B2A61CE-AC88-77D5-6C13-99514E7D1FA2}"/>
              </a:ext>
            </a:extLst>
          </p:cNvPr>
          <p:cNvSpPr/>
          <p:nvPr/>
        </p:nvSpPr>
        <p:spPr>
          <a:xfrm>
            <a:off x="6400800" y="5002907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5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任务五：前五类型各评分体系平均分</a:t>
            </a:r>
            <a:br>
              <a:rPr lang="en-US" sz="1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计算三种评分的平均值，绘制分组柱状图对比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14">
            <a:extLst>
              <a:ext uri="{FF2B5EF4-FFF2-40B4-BE49-F238E27FC236}">
                <a16:creationId xmlns:a16="http://schemas.microsoft.com/office/drawing/2014/main" id="{968895D1-5603-E33F-6479-326848D82ECA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多维洞察概览</a:t>
            </a:r>
            <a:endParaRPr lang="en-US" sz="1100"/>
          </a:p>
        </p:txBody>
      </p:sp>
      <p:sp>
        <p:nvSpPr>
          <p:cNvPr id="27" name="AutoShape 15">
            <a:extLst>
              <a:ext uri="{FF2B5EF4-FFF2-40B4-BE49-F238E27FC236}">
                <a16:creationId xmlns:a16="http://schemas.microsoft.com/office/drawing/2014/main" id="{EC645CE2-4631-8EA8-B25E-DFFB9DF06D63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通过五张核心图表构建全方位的音乐市场分析体系：从专辑数量与销量的基础分布切入，延伸至近20年的时间维度趋势演变，最后结合专业与大众评分体系，深度剖析摇滚、流行等主流音乐类型的市场表现与口碑差异，直观呈现行业发展脉络。</a:t>
            </a:r>
            <a:endParaRPr lang="en-US" sz="1100"/>
          </a:p>
        </p:txBody>
      </p:sp>
      <p:sp>
        <p:nvSpPr>
          <p:cNvPr id="29" name="AutoShape 16">
            <a:extLst>
              <a:ext uri="{FF2B5EF4-FFF2-40B4-BE49-F238E27FC236}">
                <a16:creationId xmlns:a16="http://schemas.microsoft.com/office/drawing/2014/main" id="{C6419FA4-C30D-4018-F5B5-E3D213B3C2EC}"/>
              </a:ext>
            </a:extLst>
          </p:cNvPr>
          <p:cNvSpPr/>
          <p:nvPr/>
        </p:nvSpPr>
        <p:spPr>
          <a:xfrm>
            <a:off x="924739" y="4596513"/>
            <a:ext cx="2769191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400" b="0" i="0" u="none" strike="noStrike" dirty="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聚焦各音乐类型的发行基数与商业转化，通过柱状图清晰量化摇滚、流行等风格的市场存量规模，揭示不同品类的市场普及度与商业价值的直观差异。</a:t>
            </a:r>
            <a:endParaRPr lang="en-US" sz="1100" dirty="0"/>
          </a:p>
        </p:txBody>
      </p:sp>
      <p:sp>
        <p:nvSpPr>
          <p:cNvPr id="31" name="AutoShape 17">
            <a:extLst>
              <a:ext uri="{FF2B5EF4-FFF2-40B4-BE49-F238E27FC236}">
                <a16:creationId xmlns:a16="http://schemas.microsoft.com/office/drawing/2014/main" id="{6C335360-3DFC-3F1D-582A-5A62316AB438}"/>
              </a:ext>
            </a:extLst>
          </p:cNvPr>
          <p:cNvSpPr/>
          <p:nvPr/>
        </p:nvSpPr>
        <p:spPr>
          <a:xfrm>
            <a:off x="1119963" y="4139313"/>
            <a:ext cx="2336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2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存量与销量分布</a:t>
            </a:r>
            <a:endParaRPr lang="en-US" sz="1100" dirty="0"/>
          </a:p>
        </p:txBody>
      </p:sp>
      <p:sp>
        <p:nvSpPr>
          <p:cNvPr id="33" name="AutoShape 19">
            <a:extLst>
              <a:ext uri="{FF2B5EF4-FFF2-40B4-BE49-F238E27FC236}">
                <a16:creationId xmlns:a16="http://schemas.microsoft.com/office/drawing/2014/main" id="{B058BFD1-4A68-DAB1-5DAB-C44764F089FC}"/>
              </a:ext>
            </a:extLst>
          </p:cNvPr>
          <p:cNvSpPr/>
          <p:nvPr/>
        </p:nvSpPr>
        <p:spPr>
          <a:xfrm>
            <a:off x="4722039" y="4596513"/>
            <a:ext cx="2769191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400" b="0" i="0" u="none" strike="noStrike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利用双轴图与折线图还原近20年专辑与单曲的数量走势，同时追踪头部音乐类型的年度销量波动，挖掘市场供给变化与品类热度的长期演变规律。</a:t>
            </a:r>
            <a:endParaRPr lang="en-US" sz="1100"/>
          </a:p>
        </p:txBody>
      </p:sp>
      <p:sp>
        <p:nvSpPr>
          <p:cNvPr id="35" name="AutoShape 20">
            <a:extLst>
              <a:ext uri="{FF2B5EF4-FFF2-40B4-BE49-F238E27FC236}">
                <a16:creationId xmlns:a16="http://schemas.microsoft.com/office/drawing/2014/main" id="{0759C662-4FDB-2A38-A1B9-3AABCDCEBE23}"/>
              </a:ext>
            </a:extLst>
          </p:cNvPr>
          <p:cNvSpPr/>
          <p:nvPr/>
        </p:nvSpPr>
        <p:spPr>
          <a:xfrm>
            <a:off x="4917263" y="4139313"/>
            <a:ext cx="2336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2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趋势与演变分析</a:t>
            </a:r>
            <a:endParaRPr lang="en-US" sz="1100" dirty="0"/>
          </a:p>
        </p:txBody>
      </p:sp>
      <p:sp>
        <p:nvSpPr>
          <p:cNvPr id="37" name="AutoShape 21">
            <a:extLst>
              <a:ext uri="{FF2B5EF4-FFF2-40B4-BE49-F238E27FC236}">
                <a16:creationId xmlns:a16="http://schemas.microsoft.com/office/drawing/2014/main" id="{C4FCD48D-B31A-1AE4-7E54-B3C1BE79680D}"/>
              </a:ext>
            </a:extLst>
          </p:cNvPr>
          <p:cNvSpPr/>
          <p:nvPr/>
        </p:nvSpPr>
        <p:spPr>
          <a:xfrm>
            <a:off x="8506639" y="4596513"/>
            <a:ext cx="2769191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400" b="0" i="0" u="none" strike="noStrike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基于多维度评分体系的分组对比，量化头部音乐类型的专业认可度与大众喜爱度，剖析商业畅销度与艺术口碑之间的关联，为市场定位提供参考。</a:t>
            </a:r>
            <a:endParaRPr lang="en-US" sz="1100"/>
          </a:p>
        </p:txBody>
      </p:sp>
      <p:sp>
        <p:nvSpPr>
          <p:cNvPr id="39" name="AutoShape 22">
            <a:extLst>
              <a:ext uri="{FF2B5EF4-FFF2-40B4-BE49-F238E27FC236}">
                <a16:creationId xmlns:a16="http://schemas.microsoft.com/office/drawing/2014/main" id="{0E83EAF3-D03A-953C-69FC-5B0D70A7AF93}"/>
              </a:ext>
            </a:extLst>
          </p:cNvPr>
          <p:cNvSpPr/>
          <p:nvPr/>
        </p:nvSpPr>
        <p:spPr>
          <a:xfrm>
            <a:off x="8701863" y="4152013"/>
            <a:ext cx="2336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口碑与评分对标</a:t>
            </a:r>
            <a:endParaRPr lang="en-US" sz="1100"/>
          </a:p>
        </p:txBody>
      </p:sp>
      <p:sp>
        <p:nvSpPr>
          <p:cNvPr id="41" name="AutoShape 23">
            <a:extLst>
              <a:ext uri="{FF2B5EF4-FFF2-40B4-BE49-F238E27FC236}">
                <a16:creationId xmlns:a16="http://schemas.microsoft.com/office/drawing/2014/main" id="{D7350836-5784-38C7-47C5-C3F135DBEC3F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音乐专辑数据</a:t>
            </a:r>
            <a:endParaRPr lang="en-US" sz="28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可视化分析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3">
            <a:extLst>
              <a:ext uri="{FF2B5EF4-FFF2-40B4-BE49-F238E27FC236}">
                <a16:creationId xmlns:a16="http://schemas.microsoft.com/office/drawing/2014/main" id="{69BEC6E0-1A81-3F49-5636-5329DAD4A3CE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2800" b="1" dirty="0">
                <a:solidFill>
                  <a:srgbClr val="26476A"/>
                </a:solidFill>
                <a:latin typeface="Noto Sans SC"/>
                <a:ea typeface="Noto Sans SC"/>
                <a:sym typeface="Noto Sans SC"/>
              </a:rPr>
              <a:t>图片展示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88953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14">
            <a:extLst>
              <a:ext uri="{FF2B5EF4-FFF2-40B4-BE49-F238E27FC236}">
                <a16:creationId xmlns:a16="http://schemas.microsoft.com/office/drawing/2014/main" id="{947CBE3A-DC35-8679-CF52-92E3733C441C}"/>
              </a:ext>
            </a:extLst>
          </p:cNvPr>
          <p:cNvSpPr/>
          <p:nvPr/>
        </p:nvSpPr>
        <p:spPr>
          <a:xfrm>
            <a:off x="1409700" y="4086152"/>
            <a:ext cx="28575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利用Pandas与Numpy的向量化特性替代传统逐行循环，将10万级数据的处理耗时压缩至数秒级，从底层运算逻辑上极大提升了数据处理的效率与吞吐量。</a:t>
            </a:r>
            <a:endParaRPr lang="en-US" sz="1100" dirty="0"/>
          </a:p>
        </p:txBody>
      </p:sp>
      <p:sp>
        <p:nvSpPr>
          <p:cNvPr id="30" name="AutoShape 15">
            <a:extLst>
              <a:ext uri="{FF2B5EF4-FFF2-40B4-BE49-F238E27FC236}">
                <a16:creationId xmlns:a16="http://schemas.microsoft.com/office/drawing/2014/main" id="{0BA853CD-7C14-51D0-3F65-215AB6D0E128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向量化计算</a:t>
            </a:r>
            <a:endParaRPr lang="en-US" sz="1100" dirty="0"/>
          </a:p>
        </p:txBody>
      </p:sp>
      <p:sp>
        <p:nvSpPr>
          <p:cNvPr id="32" name="AutoShape 19">
            <a:extLst>
              <a:ext uri="{FF2B5EF4-FFF2-40B4-BE49-F238E27FC236}">
                <a16:creationId xmlns:a16="http://schemas.microsoft.com/office/drawing/2014/main" id="{E03F32C9-CFC6-0DCE-DECB-BC1082F8A159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多维度交叉分析</a:t>
            </a:r>
            <a:endParaRPr lang="en-US" sz="1100" dirty="0"/>
          </a:p>
        </p:txBody>
      </p:sp>
      <p:sp>
        <p:nvSpPr>
          <p:cNvPr id="34" name="AutoShape 20">
            <a:extLst>
              <a:ext uri="{FF2B5EF4-FFF2-40B4-BE49-F238E27FC236}">
                <a16:creationId xmlns:a16="http://schemas.microsoft.com/office/drawing/2014/main" id="{CF152939-759C-062F-4F15-09D4B1417283}"/>
              </a:ext>
            </a:extLst>
          </p:cNvPr>
          <p:cNvSpPr/>
          <p:nvPr/>
        </p:nvSpPr>
        <p:spPr>
          <a:xfrm>
            <a:off x="4673600" y="4086152"/>
            <a:ext cx="28575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通过groupby多级分组与unstack透视重组，从音乐类型、发行年份、市场销量、用户评分四个核心维度展开交叉分析，深度挖掘数据间的内在关联与层次规律。</a:t>
            </a:r>
            <a:endParaRPr lang="en-US" sz="1100" dirty="0"/>
          </a:p>
        </p:txBody>
      </p:sp>
      <p:sp>
        <p:nvSpPr>
          <p:cNvPr id="36" name="AutoShape 24">
            <a:extLst>
              <a:ext uri="{FF2B5EF4-FFF2-40B4-BE49-F238E27FC236}">
                <a16:creationId xmlns:a16="http://schemas.microsoft.com/office/drawing/2014/main" id="{C0AE7838-CF27-AC97-5A71-FB3A4039C846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双轴图可视化</a:t>
            </a:r>
            <a:endParaRPr lang="en-US" sz="1100"/>
          </a:p>
        </p:txBody>
      </p:sp>
      <p:sp>
        <p:nvSpPr>
          <p:cNvPr id="38" name="AutoShape 25">
            <a:extLst>
              <a:ext uri="{FF2B5EF4-FFF2-40B4-BE49-F238E27FC236}">
                <a16:creationId xmlns:a16="http://schemas.microsoft.com/office/drawing/2014/main" id="{19981A00-8BA5-1BE4-F53C-D25DAF1123C1}"/>
              </a:ext>
            </a:extLst>
          </p:cNvPr>
          <p:cNvSpPr/>
          <p:nvPr/>
        </p:nvSpPr>
        <p:spPr>
          <a:xfrm>
            <a:off x="7939276" y="4086152"/>
            <a:ext cx="28575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采用双轴坐标系设计，以柱状图呈现专辑数量规模，折线图展示单曲数量趋势，在同一视图中清晰对比不同量纲指标的变化，高效解决多指标可视化难题。</a:t>
            </a:r>
            <a:endParaRPr lang="en-US" sz="1100" dirty="0"/>
          </a:p>
        </p:txBody>
      </p:sp>
      <p:sp>
        <p:nvSpPr>
          <p:cNvPr id="40" name="AutoShape 26">
            <a:extLst>
              <a:ext uri="{FF2B5EF4-FFF2-40B4-BE49-F238E27FC236}">
                <a16:creationId xmlns:a16="http://schemas.microsoft.com/office/drawing/2014/main" id="{35379350-331C-F385-A9F4-24FDDC4F5249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关键技术实现（一</a:t>
            </a:r>
            <a:r>
              <a:rPr lang="en-US" sz="2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AutoShape 24">
            <a:extLst>
              <a:ext uri="{FF2B5EF4-FFF2-40B4-BE49-F238E27FC236}">
                <a16:creationId xmlns:a16="http://schemas.microsoft.com/office/drawing/2014/main" id="{4F2D13E6-8812-DF51-7978-0E71E7513533}"/>
              </a:ext>
            </a:extLst>
          </p:cNvPr>
          <p:cNvSpPr/>
          <p:nvPr/>
        </p:nvSpPr>
        <p:spPr>
          <a:xfrm>
            <a:off x="1329069" y="3591151"/>
            <a:ext cx="2070395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通过分组柱状图直观对比三种评分体系对不同音乐类型的评价差异，清晰呈现数据关联，让分析结果一目了然。</a:t>
            </a:r>
            <a:endParaRPr lang="en-US" sz="1100"/>
          </a:p>
        </p:txBody>
      </p:sp>
      <p:sp>
        <p:nvSpPr>
          <p:cNvPr id="57" name="AutoShape 25">
            <a:extLst>
              <a:ext uri="{FF2B5EF4-FFF2-40B4-BE49-F238E27FC236}">
                <a16:creationId xmlns:a16="http://schemas.microsoft.com/office/drawing/2014/main" id="{F8B87E04-7F9F-A694-F203-1C8DB8C63165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分组对比分析</a:t>
            </a:r>
            <a:endParaRPr lang="en-US" sz="1100" dirty="0"/>
          </a:p>
        </p:txBody>
      </p:sp>
      <p:sp>
        <p:nvSpPr>
          <p:cNvPr id="59" name="AutoShape 26">
            <a:extLst>
              <a:ext uri="{FF2B5EF4-FFF2-40B4-BE49-F238E27FC236}">
                <a16:creationId xmlns:a16="http://schemas.microsoft.com/office/drawing/2014/main" id="{C6782BD7-E7BF-FC91-A833-D37B182099A1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模块化代码结构</a:t>
            </a:r>
            <a:endParaRPr lang="en-US" sz="1100" dirty="0"/>
          </a:p>
        </p:txBody>
      </p:sp>
      <p:sp>
        <p:nvSpPr>
          <p:cNvPr id="61" name="AutoShape 27">
            <a:extLst>
              <a:ext uri="{FF2B5EF4-FFF2-40B4-BE49-F238E27FC236}">
                <a16:creationId xmlns:a16="http://schemas.microsoft.com/office/drawing/2014/main" id="{C28FDCC8-CB19-2EF8-F717-623DBC71218C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Seaborn高级可视化</a:t>
            </a:r>
            <a:endParaRPr lang="en-US" sz="1100" dirty="0"/>
          </a:p>
        </p:txBody>
      </p:sp>
      <p:sp>
        <p:nvSpPr>
          <p:cNvPr id="63" name="AutoShape 28">
            <a:extLst>
              <a:ext uri="{FF2B5EF4-FFF2-40B4-BE49-F238E27FC236}">
                <a16:creationId xmlns:a16="http://schemas.microsoft.com/office/drawing/2014/main" id="{FACD29EC-F1B8-A7D3-9547-4E5609780E60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规范的代码注释</a:t>
            </a:r>
            <a:endParaRPr lang="en-US" sz="1100" dirty="0"/>
          </a:p>
        </p:txBody>
      </p:sp>
      <p:sp>
        <p:nvSpPr>
          <p:cNvPr id="65" name="AutoShape 29">
            <a:extLst>
              <a:ext uri="{FF2B5EF4-FFF2-40B4-BE49-F238E27FC236}">
                <a16:creationId xmlns:a16="http://schemas.microsoft.com/office/drawing/2014/main" id="{58C429E3-8996-56AB-6F7C-97AA61C9AD35}"/>
              </a:ext>
            </a:extLst>
          </p:cNvPr>
          <p:cNvSpPr/>
          <p:nvPr/>
        </p:nvSpPr>
        <p:spPr>
          <a:xfrm>
            <a:off x="3846639" y="3616551"/>
            <a:ext cx="2013672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将五个分析任务独立封装为模块，实现代码解耦与复用。各模块独立生成图表，便于调试、维护及报告的快速整合</a:t>
            </a:r>
            <a:r>
              <a:rPr lang="en-US" sz="1300" b="0" i="0" u="none" strike="noStrike" dirty="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7" name="AutoShape 31">
            <a:extLst>
              <a:ext uri="{FF2B5EF4-FFF2-40B4-BE49-F238E27FC236}">
                <a16:creationId xmlns:a16="http://schemas.microsoft.com/office/drawing/2014/main" id="{91FA4578-9089-E756-461C-04ED8B2D9B3D}"/>
              </a:ext>
            </a:extLst>
          </p:cNvPr>
          <p:cNvSpPr/>
          <p:nvPr/>
        </p:nvSpPr>
        <p:spPr>
          <a:xfrm>
            <a:off x="6338204" y="3603851"/>
            <a:ext cx="2013672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调用Seaborn的barplot等高级接口，简化复杂绘图逻辑。优化配色与布局细节，显著提升图表的专业度与美观性</a:t>
            </a:r>
            <a:r>
              <a:rPr lang="en-US" sz="1300" b="0" i="0" u="none" strike="noStrike" dirty="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9" name="AutoShape 32">
            <a:extLst>
              <a:ext uri="{FF2B5EF4-FFF2-40B4-BE49-F238E27FC236}">
                <a16:creationId xmlns:a16="http://schemas.microsoft.com/office/drawing/2014/main" id="{23912A2E-4D38-3C79-75A4-54E3CD0886E2}"/>
              </a:ext>
            </a:extLst>
          </p:cNvPr>
          <p:cNvSpPr/>
          <p:nvPr/>
        </p:nvSpPr>
        <p:spPr>
          <a:xfrm>
            <a:off x="8816770" y="3616551"/>
            <a:ext cx="2013672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保持代码高可读性，添加清晰的逻辑注释与文档说明。便于后期回顾、修改与复用，同时体现严谨规范的编程素养</a:t>
            </a:r>
            <a:r>
              <a:rPr lang="en-US" sz="1300" b="0" i="0" u="none" strike="noStrike" dirty="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1" name="AutoShape 53">
            <a:extLst>
              <a:ext uri="{FF2B5EF4-FFF2-40B4-BE49-F238E27FC236}">
                <a16:creationId xmlns:a16="http://schemas.microsoft.com/office/drawing/2014/main" id="{E51F20D6-0DEC-D5E8-FE4F-559B74D4795D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关键技术实现（二</a:t>
            </a:r>
            <a:r>
              <a:rPr lang="en-US" sz="2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77D0941E-897E-7258-C00B-715CE378C16A}"/>
              </a:ext>
            </a:extLst>
          </p:cNvPr>
          <p:cNvGrpSpPr/>
          <p:nvPr/>
        </p:nvGrpSpPr>
        <p:grpSpPr>
          <a:xfrm>
            <a:off x="6553200" y="5530112"/>
            <a:ext cx="3111500" cy="381000"/>
            <a:chOff x="2032000" y="5372100"/>
            <a:chExt cx="3111500" cy="381000"/>
          </a:xfrm>
        </p:grpSpPr>
        <p:sp>
          <p:nvSpPr>
            <p:cNvPr id="39" name="AutoShape 24">
              <a:extLst>
                <a:ext uri="{FF2B5EF4-FFF2-40B4-BE49-F238E27FC236}">
                  <a16:creationId xmlns:a16="http://schemas.microsoft.com/office/drawing/2014/main" id="{06D4A917-F794-B2A3-80B9-1AB909F04B8E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0" name="AutoShape 25">
              <a:extLst>
                <a:ext uri="{FF2B5EF4-FFF2-40B4-BE49-F238E27FC236}">
                  <a16:creationId xmlns:a16="http://schemas.microsoft.com/office/drawing/2014/main" id="{15CA8129-120B-0C0E-E33E-4ABF4A6B031A}"/>
                </a:ext>
              </a:extLst>
            </p:cNvPr>
            <p:cNvSpPr/>
            <p:nvPr/>
          </p:nvSpPr>
          <p:spPr>
            <a:xfrm>
              <a:off x="2349500" y="5372100"/>
              <a:ext cx="279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1" i="0" u="none" strike="noStrike" dirty="0">
                  <a:solidFill>
                    <a:srgbClr val="26476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日期：2026年7月</a:t>
              </a:r>
              <a:endParaRPr lang="en-US" sz="1100" dirty="0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0734D3B-0DB7-9845-13E4-31C78B4EEFC8}"/>
              </a:ext>
            </a:extLst>
          </p:cNvPr>
          <p:cNvGrpSpPr/>
          <p:nvPr/>
        </p:nvGrpSpPr>
        <p:grpSpPr>
          <a:xfrm>
            <a:off x="2032000" y="4889500"/>
            <a:ext cx="3606800" cy="381000"/>
            <a:chOff x="2032000" y="5372100"/>
            <a:chExt cx="3606800" cy="381000"/>
          </a:xfrm>
        </p:grpSpPr>
        <p:sp>
          <p:nvSpPr>
            <p:cNvPr id="42" name="AutoShape 24">
              <a:extLst>
                <a:ext uri="{FF2B5EF4-FFF2-40B4-BE49-F238E27FC236}">
                  <a16:creationId xmlns:a16="http://schemas.microsoft.com/office/drawing/2014/main" id="{5E9BF573-FDB0-C63A-2126-BF33C7FFD708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3" name="AutoShape 25">
              <a:extLst>
                <a:ext uri="{FF2B5EF4-FFF2-40B4-BE49-F238E27FC236}">
                  <a16:creationId xmlns:a16="http://schemas.microsoft.com/office/drawing/2014/main" id="{5DE0DD00-2B9F-44D3-5C73-FAE523C20A7D}"/>
                </a:ext>
              </a:extLst>
            </p:cNvPr>
            <p:cNvSpPr/>
            <p:nvPr/>
          </p:nvSpPr>
          <p:spPr>
            <a:xfrm>
              <a:off x="2349500" y="5372100"/>
              <a:ext cx="32893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26476A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项目小组：超级无敌雷霆暴龙战士组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indent="0" algn="l">
                <a:lnSpc>
                  <a:spcPct val="100000"/>
                </a:lnSpc>
                <a:defRPr/>
              </a:pPr>
              <a:endParaRPr lang="en-US" sz="1100" dirty="0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BEFF8F1-2FC4-4007-97A1-294122597134}"/>
              </a:ext>
            </a:extLst>
          </p:cNvPr>
          <p:cNvGrpSpPr/>
          <p:nvPr/>
        </p:nvGrpSpPr>
        <p:grpSpPr>
          <a:xfrm>
            <a:off x="6553200" y="4885956"/>
            <a:ext cx="3606800" cy="381000"/>
            <a:chOff x="2032000" y="5372100"/>
            <a:chExt cx="3606800" cy="381000"/>
          </a:xfrm>
        </p:grpSpPr>
        <p:sp>
          <p:nvSpPr>
            <p:cNvPr id="45" name="AutoShape 24">
              <a:extLst>
                <a:ext uri="{FF2B5EF4-FFF2-40B4-BE49-F238E27FC236}">
                  <a16:creationId xmlns:a16="http://schemas.microsoft.com/office/drawing/2014/main" id="{E4023CF4-83EE-1536-9387-F1DA4EF61CFD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6" name="AutoShape 25">
              <a:extLst>
                <a:ext uri="{FF2B5EF4-FFF2-40B4-BE49-F238E27FC236}">
                  <a16:creationId xmlns:a16="http://schemas.microsoft.com/office/drawing/2014/main" id="{134690D6-FEF3-0FCF-0A03-17658110314F}"/>
                </a:ext>
              </a:extLst>
            </p:cNvPr>
            <p:cNvSpPr/>
            <p:nvPr/>
          </p:nvSpPr>
          <p:spPr>
            <a:xfrm>
              <a:off x="2349500" y="5372100"/>
              <a:ext cx="32893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26476A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项目成员：钟翌，刁英东，李晨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indent="0" algn="l">
                <a:lnSpc>
                  <a:spcPct val="100000"/>
                </a:lnSpc>
                <a:defRPr/>
              </a:pPr>
              <a:endParaRPr lang="en-US" sz="1100" dirty="0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B12FAD40-4221-154D-96A1-2E1F186FAA8F}"/>
              </a:ext>
            </a:extLst>
          </p:cNvPr>
          <p:cNvGrpSpPr/>
          <p:nvPr/>
        </p:nvGrpSpPr>
        <p:grpSpPr>
          <a:xfrm>
            <a:off x="2032000" y="5530112"/>
            <a:ext cx="3111500" cy="381000"/>
            <a:chOff x="2032000" y="5372100"/>
            <a:chExt cx="3111500" cy="381000"/>
          </a:xfrm>
        </p:grpSpPr>
        <p:sp>
          <p:nvSpPr>
            <p:cNvPr id="48" name="AutoShape 24">
              <a:extLst>
                <a:ext uri="{FF2B5EF4-FFF2-40B4-BE49-F238E27FC236}">
                  <a16:creationId xmlns:a16="http://schemas.microsoft.com/office/drawing/2014/main" id="{5C60F880-52E6-02BF-5D0A-78BB57D27DD1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9" name="AutoShape 25">
              <a:extLst>
                <a:ext uri="{FF2B5EF4-FFF2-40B4-BE49-F238E27FC236}">
                  <a16:creationId xmlns:a16="http://schemas.microsoft.com/office/drawing/2014/main" id="{C12E886D-E2A5-B22A-61C3-383CEED9D3DD}"/>
                </a:ext>
              </a:extLst>
            </p:cNvPr>
            <p:cNvSpPr/>
            <p:nvPr/>
          </p:nvSpPr>
          <p:spPr>
            <a:xfrm>
              <a:off x="2349500" y="5372100"/>
              <a:ext cx="279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600" b="1" dirty="0">
                  <a:solidFill>
                    <a:srgbClr val="26476A"/>
                  </a:solidFill>
                  <a:latin typeface="Noto Sans SC"/>
                  <a:ea typeface="Noto Sans SC"/>
                  <a:sym typeface="Noto Sans SC"/>
                </a:rPr>
                <a:t>汇报人：钟翌</a:t>
              </a:r>
              <a:endParaRPr lang="en-US" sz="1100" dirty="0"/>
            </a:p>
          </p:txBody>
        </p:sp>
      </p:grpSp>
      <p:sp>
        <p:nvSpPr>
          <p:cNvPr id="51" name="AutoShape 18">
            <a:extLst>
              <a:ext uri="{FF2B5EF4-FFF2-40B4-BE49-F238E27FC236}">
                <a16:creationId xmlns:a16="http://schemas.microsoft.com/office/drawing/2014/main" id="{824E0D68-7F4C-51C7-E896-2898FF7F75F6}"/>
              </a:ext>
            </a:extLst>
          </p:cNvPr>
          <p:cNvSpPr/>
          <p:nvPr/>
        </p:nvSpPr>
        <p:spPr>
          <a:xfrm>
            <a:off x="1016000" y="26162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7200" dirty="0">
                <a:solidFill>
                  <a:srgbClr val="26476A"/>
                </a:solidFill>
                <a:latin typeface="Noto Sans SC"/>
                <a:ea typeface="Noto Sans SC"/>
                <a:sym typeface="Noto Sans SC"/>
              </a:rPr>
              <a:t>谢谢观看</a:t>
            </a:r>
            <a:endParaRPr lang="en-US" sz="1100" dirty="0"/>
          </a:p>
        </p:txBody>
      </p:sp>
      <p:sp>
        <p:nvSpPr>
          <p:cNvPr id="53" name="AutoShape 19">
            <a:extLst>
              <a:ext uri="{FF2B5EF4-FFF2-40B4-BE49-F238E27FC236}">
                <a16:creationId xmlns:a16="http://schemas.microsoft.com/office/drawing/2014/main" id="{D665ACDC-5D67-5CA9-A317-3D762AADC003}"/>
              </a:ext>
            </a:extLst>
          </p:cNvPr>
          <p:cNvSpPr/>
          <p:nvPr/>
        </p:nvSpPr>
        <p:spPr>
          <a:xfrm>
            <a:off x="3530600" y="3851643"/>
            <a:ext cx="5156200" cy="3104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b="0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B81C11D0-DD4B-40B8-893F-200624FA9622}" vid="{A480BCF9-7CB7-4B6E-AE45-338217376A1C}"/>
    </a:ext>
  </a:extLst>
</a:theme>
</file>

<file path=ppt/theme/theme2.xml><?xml version="1.0" encoding="utf-8"?>
<a:theme xmlns:a="http://schemas.openxmlformats.org/drawingml/2006/main" name="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91907723-3685-4C06-9771-9601C123EE11}" vid="{BF62F9DD-D198-4A8C-B8EA-A12FC5136952}"/>
    </a:ext>
  </a:extLst>
</a:theme>
</file>

<file path=ppt/theme/theme4.xml><?xml version="1.0" encoding="utf-8"?>
<a:theme xmlns:a="http://schemas.openxmlformats.org/drawingml/2006/main" name="1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A07A827A-5D6E-46DB-B74B-AA1422761E5A}" vid="{7C067DC9-0F57-4C9B-8FBD-4F913BADF1CD}"/>
    </a:ext>
  </a:extLst>
</a:theme>
</file>

<file path=ppt/theme/theme7.xml><?xml version="1.0" encoding="utf-8"?>
<a:theme xmlns:a="http://schemas.openxmlformats.org/drawingml/2006/main" name="3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29FA6CC9-F464-40AA-AB83-F1707CAFA71A}" vid="{4C644483-669E-4E6C-804A-AE0D3B34F7C5}"/>
    </a:ext>
  </a:extLst>
</a:theme>
</file>

<file path=ppt/theme/theme9.xml><?xml version="1.0" encoding="utf-8"?>
<a:theme xmlns:a="http://schemas.openxmlformats.org/drawingml/2006/main" name="4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4_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9399E096-7A2C-4F7F-AE88-8FD7029385D0}" vid="{8C5F3508-FECC-4823-A88B-8C807D9C51FE}"/>
    </a:ext>
  </a:extLst>
</a:theme>
</file>

<file path=ppt/theme/theme11.xml><?xml version="1.0" encoding="utf-8"?>
<a:theme xmlns:a="http://schemas.openxmlformats.org/drawingml/2006/main" name="5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D4B7408E-807D-4D4A-81E5-4BDCCF2721B0}" vid="{8DD536E9-D20E-4239-BA7E-44E16B7D6132}"/>
    </a:ext>
  </a:extLst>
</a:theme>
</file>

<file path=ppt/theme/theme13.xml><?xml version="1.0" encoding="utf-8"?>
<a:theme xmlns:a="http://schemas.openxmlformats.org/drawingml/2006/main" name="6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深蓝色学术风项目答辩PPT模板</Template>
  <TotalTime>296</TotalTime>
  <Words>1640</Words>
  <Application>Microsoft Office PowerPoint</Application>
  <PresentationFormat>宽屏</PresentationFormat>
  <Paragraphs>149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13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Menlo</vt:lpstr>
      <vt:lpstr>Noto Sans SC</vt:lpstr>
      <vt:lpstr>等线</vt:lpstr>
      <vt:lpstr>思源黑体 CN Regular</vt:lpstr>
      <vt:lpstr>Arial</vt:lpstr>
      <vt:lpstr>深蓝色学术风项目答辩PPT模板</vt:lpstr>
      <vt:lpstr>Office 主题​​</vt:lpstr>
      <vt:lpstr>1_深蓝色学术风项目答辩PPT模板</vt:lpstr>
      <vt:lpstr>1_Office 主题​​</vt:lpstr>
      <vt:lpstr>2_Office 主题​​</vt:lpstr>
      <vt:lpstr>2_深蓝色学术风项目答辩PPT模板</vt:lpstr>
      <vt:lpstr>3_Office 主题​​</vt:lpstr>
      <vt:lpstr>3_深蓝色学术风项目答辩PPT模板</vt:lpstr>
      <vt:lpstr>4_Office 主题​​</vt:lpstr>
      <vt:lpstr>4_深蓝色学术风项目答辩PPT模板</vt:lpstr>
      <vt:lpstr>5_Office 主题​​</vt:lpstr>
      <vt:lpstr>5_深蓝色学术风项目答辩PPT模板</vt:lpstr>
      <vt:lpstr>6_Office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 yd</dc:creator>
  <cp:lastModifiedBy>d yd</cp:lastModifiedBy>
  <cp:revision>17</cp:revision>
  <dcterms:modified xsi:type="dcterms:W3CDTF">2026-07-13T10:29:00Z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{"Label":"1","ContentProducer":"001191110102MACQD9K64010000","ProduceID":"7661545051965066471","ReservedCode1":"","ContentPropagator":"","PropagateID":"","ReservedCode2":""}</vt:lpwstr>
  </property>
</Properties>
</file>